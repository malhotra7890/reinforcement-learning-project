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17"/>
  </p:notesMasterIdLst>
  <p:sldIdLst>
    <p:sldId id="256" r:id="rId2"/>
    <p:sldId id="375" r:id="rId3"/>
    <p:sldId id="258" r:id="rId4"/>
    <p:sldId id="289" r:id="rId5"/>
    <p:sldId id="376" r:id="rId6"/>
    <p:sldId id="379" r:id="rId7"/>
    <p:sldId id="265" r:id="rId8"/>
    <p:sldId id="383" r:id="rId9"/>
    <p:sldId id="387" r:id="rId10"/>
    <p:sldId id="381" r:id="rId11"/>
    <p:sldId id="263" r:id="rId12"/>
    <p:sldId id="382" r:id="rId13"/>
    <p:sldId id="274" r:id="rId14"/>
    <p:sldId id="377" r:id="rId15"/>
    <p:sldId id="27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8516" autoAdjust="0"/>
  </p:normalViewPr>
  <p:slideViewPr>
    <p:cSldViewPr snapToGrid="0">
      <p:cViewPr varScale="1">
        <p:scale>
          <a:sx n="80" d="100"/>
          <a:sy n="80" d="100"/>
        </p:scale>
        <p:origin x="71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EF35EE-806E-409D-9235-46F93FF960CC}" type="datetimeFigureOut">
              <a:rPr lang="en-IN" smtClean="0"/>
              <a:t>19-11-2025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11D0DC-97A2-4196-AA58-37AB0C852D6E}" type="slidenum">
              <a:rPr lang="en-IN" smtClean="0"/>
              <a:t>‹#›</a:t>
            </a:fld>
            <a:endParaRPr lang="en-IN"/>
          </a:p>
        </p:txBody>
      </p:sp>
    </p:spTree>
    <p:extLst>
      <p:ext uri="{BB962C8B-B14F-4D97-AF65-F5344CB8AC3E}">
        <p14:creationId xmlns:p14="http://schemas.microsoft.com/office/powerpoint/2010/main" val="1727190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IN" dirty="0"/>
                  <a:t>DDPG uses </a:t>
                </a:r>
                <a:r>
                  <a:rPr lang="en-IN" b="1" dirty="0"/>
                  <a:t>two networks</a:t>
                </a:r>
                <a:r>
                  <a:rPr lang="en-IN" dirty="0"/>
                  <a:t>:</a:t>
                </a:r>
              </a:p>
              <a:p>
                <a:r>
                  <a:rPr lang="en-IN" b="1" dirty="0"/>
                  <a:t>Actor Network</a:t>
                </a:r>
              </a:p>
              <a:p>
                <a:r>
                  <a:rPr lang="en-IN" dirty="0"/>
                  <a:t>Outputs the best continuous action</a:t>
                </a:r>
                <a14:m>
                  <m:oMath xmlns:m="http://schemas.openxmlformats.org/officeDocument/2006/math">
                    <m:r>
                      <a:rPr lang="en-IN" sz="1200" i="1" kern="1200">
                        <a:solidFill>
                          <a:schemeClr val="tx1"/>
                        </a:solidFill>
                        <a:latin typeface="+mn-lt"/>
                        <a:ea typeface="+mn-ea"/>
                        <a:cs typeface="+mn-cs"/>
                      </a:rPr>
                      <m:t>𝑎</m:t>
                    </m:r>
                    <m:r>
                      <a:rPr lang="en-IN" sz="1200" i="0" kern="1200">
                        <a:solidFill>
                          <a:schemeClr val="tx1"/>
                        </a:solidFill>
                        <a:latin typeface="+mn-lt"/>
                        <a:ea typeface="+mn-ea"/>
                        <a:cs typeface="+mn-cs"/>
                      </a:rPr>
                      <m:t>=</m:t>
                    </m:r>
                    <m:r>
                      <a:rPr lang="en-IN" sz="1200" i="1" kern="1200">
                        <a:solidFill>
                          <a:schemeClr val="tx1"/>
                        </a:solidFill>
                        <a:latin typeface="+mn-lt"/>
                        <a:ea typeface="+mn-ea"/>
                        <a:cs typeface="+mn-cs"/>
                      </a:rPr>
                      <m:t>𝜋</m:t>
                    </m:r>
                    <m:d>
                      <m:dPr>
                        <m:ctrlPr>
                          <a:rPr lang="ar-AE" sz="1200" i="1" kern="1200">
                            <a:solidFill>
                              <a:schemeClr val="tx1"/>
                            </a:solidFill>
                            <a:latin typeface="+mn-lt"/>
                            <a:ea typeface="+mn-ea"/>
                            <a:cs typeface="+mn-cs"/>
                          </a:rPr>
                        </m:ctrlPr>
                      </m:dPr>
                      <m:e>
                        <m:r>
                          <a:rPr lang="ar-AE" sz="1200" i="1" kern="1200">
                            <a:solidFill>
                              <a:schemeClr val="tx1"/>
                            </a:solidFill>
                            <a:latin typeface="+mn-lt"/>
                            <a:ea typeface="+mn-ea"/>
                            <a:cs typeface="+mn-cs"/>
                          </a:rPr>
                          <m:t>𝑠</m:t>
                        </m:r>
                      </m:e>
                    </m:d>
                  </m:oMath>
                </a14:m>
                <a:endParaRPr lang="ar-AE" dirty="0"/>
              </a:p>
              <a:p>
                <a:r>
                  <a:rPr lang="en-IN" b="1" dirty="0"/>
                  <a:t>Critic Network</a:t>
                </a:r>
              </a:p>
              <a:p>
                <a:r>
                  <a:rPr lang="en-IN" dirty="0"/>
                  <a:t>Estimates Q-value of that action</a:t>
                </a:r>
                <a14:m>
                  <m:oMath xmlns:m="http://schemas.openxmlformats.org/officeDocument/2006/math">
                    <m:r>
                      <a:rPr lang="en-IN" sz="1200" i="1" kern="1200">
                        <a:solidFill>
                          <a:schemeClr val="tx1"/>
                        </a:solidFill>
                        <a:latin typeface="+mn-lt"/>
                        <a:ea typeface="+mn-ea"/>
                        <a:cs typeface="+mn-cs"/>
                      </a:rPr>
                      <m:t>𝑄</m:t>
                    </m:r>
                    <m:d>
                      <m:dPr>
                        <m:sepChr m:val=","/>
                        <m:ctrlPr>
                          <a:rPr lang="ar-AE" sz="1200" i="1" kern="1200">
                            <a:solidFill>
                              <a:schemeClr val="tx1"/>
                            </a:solidFill>
                            <a:latin typeface="+mn-lt"/>
                            <a:ea typeface="+mn-ea"/>
                            <a:cs typeface="+mn-cs"/>
                          </a:rPr>
                        </m:ctrlPr>
                      </m:dPr>
                      <m:e>
                        <m:r>
                          <a:rPr lang="ar-AE" sz="1200" i="1" kern="1200">
                            <a:solidFill>
                              <a:schemeClr val="tx1"/>
                            </a:solidFill>
                            <a:latin typeface="+mn-lt"/>
                            <a:ea typeface="+mn-ea"/>
                            <a:cs typeface="+mn-cs"/>
                          </a:rPr>
                          <m:t>𝑠</m:t>
                        </m:r>
                      </m:e>
                      <m:e>
                        <m:r>
                          <a:rPr lang="ar-AE" sz="1200" i="1" kern="1200">
                            <a:solidFill>
                              <a:schemeClr val="tx1"/>
                            </a:solidFill>
                            <a:latin typeface="+mn-lt"/>
                            <a:ea typeface="+mn-ea"/>
                            <a:cs typeface="+mn-cs"/>
                          </a:rPr>
                          <m:t>𝑎</m:t>
                        </m:r>
                      </m:e>
                    </m:d>
                  </m:oMath>
                </a14:m>
                <a:endParaRPr lang="ar-AE" dirty="0"/>
              </a:p>
              <a:p>
                <a:endParaRPr lang="en-IN" dirty="0"/>
              </a:p>
              <a:p>
                <a:r>
                  <a:rPr lang="en-US" b="1" dirty="0"/>
                  <a:t>Actor–Critic in simple terms</a:t>
                </a:r>
              </a:p>
              <a:p>
                <a:r>
                  <a:rPr lang="en-US" b="1" dirty="0"/>
                  <a:t>Actor</a:t>
                </a:r>
              </a:p>
              <a:p>
                <a:r>
                  <a:rPr lang="en-US" dirty="0"/>
                  <a:t>The actor is a neural network that decides </a:t>
                </a:r>
                <a:r>
                  <a:rPr lang="en-US" b="1" dirty="0"/>
                  <a:t>what action to take</a:t>
                </a:r>
                <a:r>
                  <a:rPr lang="en-US" dirty="0"/>
                  <a:t> in a given state.</a:t>
                </a:r>
                <a:br>
                  <a:rPr lang="en-US" dirty="0"/>
                </a:br>
                <a:r>
                  <a:rPr lang="en-US" dirty="0"/>
                  <a:t>It directly outputs actions like thrust or steering angle.</a:t>
                </a:r>
              </a:p>
              <a:p>
                <a:r>
                  <a:rPr lang="en-US" dirty="0"/>
                  <a:t>In simple words:</a:t>
                </a:r>
                <a:br>
                  <a:rPr lang="en-US" dirty="0"/>
                </a:br>
                <a:r>
                  <a:rPr lang="en-US" dirty="0"/>
                  <a:t>Actor = the decision-maker.</a:t>
                </a:r>
              </a:p>
              <a:p>
                <a:r>
                  <a:rPr lang="en-US" b="1" dirty="0"/>
                  <a:t>Critic</a:t>
                </a:r>
              </a:p>
              <a:p>
                <a:r>
                  <a:rPr lang="en-US" dirty="0"/>
                  <a:t>The critic is a neural network that evaluates </a:t>
                </a:r>
                <a:r>
                  <a:rPr lang="en-US" b="1" dirty="0"/>
                  <a:t>how good the actor’s action is</a:t>
                </a:r>
                <a:r>
                  <a:rPr lang="en-US" dirty="0"/>
                  <a:t>.</a:t>
                </a:r>
                <a:br>
                  <a:rPr lang="en-US" dirty="0"/>
                </a:br>
                <a:r>
                  <a:rPr lang="en-US" dirty="0"/>
                  <a:t>It learns a Q-value (expected future reward) of taking action a in state s.</a:t>
                </a:r>
              </a:p>
              <a:p>
                <a:r>
                  <a:rPr lang="en-US" dirty="0"/>
                  <a:t>In simple words:</a:t>
                </a:r>
                <a:br>
                  <a:rPr lang="en-US" dirty="0"/>
                </a:br>
                <a:r>
                  <a:rPr lang="en-US" dirty="0"/>
                  <a:t>Critic = the evaluator or judge.</a:t>
                </a:r>
              </a:p>
              <a:p>
                <a:r>
                  <a:rPr lang="en-US" dirty="0"/>
                  <a:t>The actor tries to improve based on feedback from the critic.</a:t>
                </a:r>
              </a:p>
              <a:p>
                <a:endParaRPr lang="en-IN" dirty="0"/>
              </a:p>
              <a:p>
                <a:endParaRPr lang="en-IN" dirty="0"/>
              </a:p>
              <a:p>
                <a:endParaRPr lang="en-IN" dirty="0"/>
              </a:p>
              <a:p>
                <a:r>
                  <a:rPr lang="en-US" b="1" dirty="0"/>
                  <a:t>What is a Value Function in RL?</a:t>
                </a:r>
              </a:p>
              <a:p>
                <a:r>
                  <a:rPr lang="en-US" dirty="0"/>
                  <a:t>A value function tells </a:t>
                </a:r>
                <a:r>
                  <a:rPr lang="en-US" b="1" dirty="0"/>
                  <a:t>how good it is</a:t>
                </a:r>
                <a:r>
                  <a:rPr lang="en-US" dirty="0"/>
                  <a:t> to be in a state or take an action.</a:t>
                </a:r>
              </a:p>
              <a:p>
                <a:r>
                  <a:rPr lang="en-US" dirty="0"/>
                  <a:t>Examples:</a:t>
                </a:r>
                <a:br>
                  <a:rPr lang="en-US" dirty="0"/>
                </a:br>
                <a:r>
                  <a:rPr lang="en-US" dirty="0"/>
                  <a:t>• V(s): value of being in state s</a:t>
                </a:r>
                <a:br>
                  <a:rPr lang="en-US" dirty="0"/>
                </a:br>
                <a:r>
                  <a:rPr lang="en-US" dirty="0"/>
                  <a:t>• Q(s, a): value of taking action a in state s</a:t>
                </a:r>
              </a:p>
              <a:p>
                <a:r>
                  <a:rPr lang="en-US" dirty="0"/>
                  <a:t>Value = expected future reward.</a:t>
                </a:r>
              </a:p>
              <a:p>
                <a:br>
                  <a:rPr lang="en-US" dirty="0"/>
                </a:br>
                <a:endParaRPr lang="en-US" dirty="0"/>
              </a:p>
              <a:p>
                <a:r>
                  <a:rPr lang="en-US" b="1" dirty="0"/>
                  <a:t>What is a Policy in RL?</a:t>
                </a:r>
              </a:p>
              <a:p>
                <a:r>
                  <a:rPr lang="en-US" dirty="0"/>
                  <a:t>A policy tells the agent </a:t>
                </a:r>
                <a:r>
                  <a:rPr lang="en-US" b="1" dirty="0"/>
                  <a:t>what action to take</a:t>
                </a:r>
                <a:r>
                  <a:rPr lang="en-US" dirty="0"/>
                  <a:t>.</a:t>
                </a:r>
              </a:p>
              <a:p>
                <a:r>
                  <a:rPr lang="en-US" dirty="0"/>
                  <a:t>There are two types:</a:t>
                </a:r>
              </a:p>
              <a:p>
                <a:r>
                  <a:rPr lang="en-US" b="1" dirty="0"/>
                  <a:t>Deterministic Policy (Simple Meaning)</a:t>
                </a:r>
              </a:p>
              <a:p>
                <a:r>
                  <a:rPr lang="en-US" dirty="0"/>
                  <a:t>A deterministic policy always gives </a:t>
                </a:r>
                <a:r>
                  <a:rPr lang="en-US" b="1" dirty="0"/>
                  <a:t>one fixed action</a:t>
                </a:r>
                <a:r>
                  <a:rPr lang="en-US" dirty="0"/>
                  <a:t> for a given state.</a:t>
                </a:r>
              </a:p>
              <a:p>
                <a:r>
                  <a:rPr lang="en-US" dirty="0"/>
                  <a:t>If the state is the same, the action will always be exactly the same.</a:t>
                </a:r>
              </a:p>
              <a:p>
                <a:r>
                  <a:rPr lang="en-US" dirty="0"/>
                  <a:t>Example:</a:t>
                </a:r>
                <a:br>
                  <a:rPr lang="en-US" dirty="0"/>
                </a:br>
                <a:r>
                  <a:rPr lang="en-US" dirty="0"/>
                  <a:t>State = "lander is tilted left"</a:t>
                </a:r>
                <a:br>
                  <a:rPr lang="en-US" dirty="0"/>
                </a:br>
                <a:r>
                  <a:rPr lang="en-US" dirty="0"/>
                  <a:t>Deterministic policy action = "apply right thruster (exact value 0.42)"</a:t>
                </a:r>
              </a:p>
              <a:p>
                <a:r>
                  <a:rPr lang="en-US" dirty="0"/>
                  <a:t>There is </a:t>
                </a:r>
                <a:r>
                  <a:rPr lang="en-US" b="1" dirty="0"/>
                  <a:t>no randomness</a:t>
                </a:r>
                <a:r>
                  <a:rPr lang="en-US" dirty="0"/>
                  <a:t>.</a:t>
                </a:r>
              </a:p>
              <a:p>
                <a:br>
                  <a:rPr lang="en-US" dirty="0"/>
                </a:br>
                <a:endParaRPr lang="en-US" dirty="0"/>
              </a:p>
              <a:p>
                <a:r>
                  <a:rPr lang="en-US" b="1" dirty="0"/>
                  <a:t>Stochastic Policy (Simple Meaning)</a:t>
                </a:r>
              </a:p>
              <a:p>
                <a:r>
                  <a:rPr lang="en-US" dirty="0"/>
                  <a:t>A stochastic policy gives </a:t>
                </a:r>
                <a:r>
                  <a:rPr lang="en-US" b="1" dirty="0"/>
                  <a:t>a probability distribution of actions</a:t>
                </a:r>
                <a:r>
                  <a:rPr lang="en-US" dirty="0"/>
                  <a:t> for a given state.</a:t>
                </a:r>
              </a:p>
              <a:p>
                <a:r>
                  <a:rPr lang="en-US" dirty="0"/>
                  <a:t>The action you take can vary because it is sampled from probabilities.</a:t>
                </a:r>
              </a:p>
              <a:p>
                <a:r>
                  <a:rPr lang="en-US" dirty="0"/>
                  <a:t>Example:</a:t>
                </a:r>
                <a:br>
                  <a:rPr lang="en-US" dirty="0"/>
                </a:br>
                <a:r>
                  <a:rPr lang="en-US" dirty="0"/>
                  <a:t>State = "lander is tilted left"</a:t>
                </a:r>
                <a:br>
                  <a:rPr lang="en-US" dirty="0"/>
                </a:br>
                <a:r>
                  <a:rPr lang="en-US" dirty="0"/>
                  <a:t>Stochastic policy might say:</a:t>
                </a:r>
                <a:br>
                  <a:rPr lang="en-US" dirty="0"/>
                </a:br>
                <a:r>
                  <a:rPr lang="en-US" dirty="0"/>
                  <a:t>• 70% chance → apply right thruster</a:t>
                </a:r>
                <a:br>
                  <a:rPr lang="en-US" dirty="0"/>
                </a:br>
                <a:r>
                  <a:rPr lang="en-US" dirty="0"/>
                  <a:t>• 30% chance → apply main engine</a:t>
                </a:r>
              </a:p>
              <a:p>
                <a:r>
                  <a:rPr lang="en-US" dirty="0"/>
                  <a:t> </a:t>
                </a:r>
                <a:endParaRPr lang="en-US" b="1" dirty="0"/>
              </a:p>
              <a:p>
                <a:r>
                  <a:rPr lang="en-US" dirty="0"/>
                  <a:t>Policy = the agent’s behavior rule.</a:t>
                </a:r>
              </a:p>
              <a:p>
                <a:r>
                  <a:rPr lang="en-IN" dirty="0"/>
                  <a:t>So we add Gaussian noise:</a:t>
                </a:r>
              </a:p>
              <a:p>
                <a14:m>
                  <m:oMathPara xmlns:m="http://schemas.openxmlformats.org/officeDocument/2006/math">
                    <m:oMathParaPr>
                      <m:jc m:val="centerGroup"/>
                    </m:oMathParaPr>
                    <m:oMath xmlns:m="http://schemas.openxmlformats.org/officeDocument/2006/math">
                      <m:r>
                        <a:rPr lang="en-IN" sz="1200" i="1" kern="1200" smtClean="0">
                          <a:solidFill>
                            <a:schemeClr val="tx1"/>
                          </a:solidFill>
                          <a:latin typeface="+mn-lt"/>
                          <a:ea typeface="+mn-ea"/>
                          <a:cs typeface="+mn-cs"/>
                        </a:rPr>
                        <m:t>𝑎</m:t>
                      </m:r>
                      <m:r>
                        <a:rPr lang="en-IN" sz="1200" i="0" kern="1200">
                          <a:solidFill>
                            <a:schemeClr val="tx1"/>
                          </a:solidFill>
                          <a:latin typeface="+mn-lt"/>
                          <a:ea typeface="+mn-ea"/>
                          <a:cs typeface="+mn-cs"/>
                        </a:rPr>
                        <m:t>=</m:t>
                      </m:r>
                      <m:r>
                        <a:rPr lang="en-IN" sz="1200" i="1" kern="1200">
                          <a:solidFill>
                            <a:schemeClr val="tx1"/>
                          </a:solidFill>
                          <a:latin typeface="+mn-lt"/>
                          <a:ea typeface="+mn-ea"/>
                          <a:cs typeface="+mn-cs"/>
                        </a:rPr>
                        <m:t>𝜋</m:t>
                      </m:r>
                      <m:d>
                        <m:dPr>
                          <m:ctrlPr>
                            <a:rPr lang="ar-AE" sz="1200" i="1" kern="1200">
                              <a:solidFill>
                                <a:schemeClr val="tx1"/>
                              </a:solidFill>
                              <a:latin typeface="+mn-lt"/>
                              <a:ea typeface="+mn-ea"/>
                              <a:cs typeface="+mn-cs"/>
                            </a:rPr>
                          </m:ctrlPr>
                        </m:dPr>
                        <m:e>
                          <m:r>
                            <a:rPr lang="ar-AE" sz="1200" i="1" kern="1200">
                              <a:solidFill>
                                <a:schemeClr val="tx1"/>
                              </a:solidFill>
                              <a:latin typeface="+mn-lt"/>
                              <a:ea typeface="+mn-ea"/>
                              <a:cs typeface="+mn-cs"/>
                            </a:rPr>
                            <m:t>𝑠</m:t>
                          </m:r>
                        </m:e>
                      </m:d>
                      <m:r>
                        <a:rPr lang="ar-AE" sz="1200" i="0" kern="1200">
                          <a:solidFill>
                            <a:schemeClr val="tx1"/>
                          </a:solidFill>
                          <a:latin typeface="+mn-lt"/>
                          <a:ea typeface="+mn-ea"/>
                          <a:cs typeface="+mn-cs"/>
                        </a:rPr>
                        <m:t>+</m:t>
                      </m:r>
                      <m:r>
                        <a:rPr lang="ar-AE" sz="1200" i="0" kern="1200">
                          <a:solidFill>
                            <a:schemeClr val="tx1"/>
                          </a:solidFill>
                          <a:latin typeface="+mn-lt"/>
                          <a:ea typeface="+mn-ea"/>
                          <a:cs typeface="+mn-cs"/>
                        </a:rPr>
                        <m:t>𝒩</m:t>
                      </m:r>
                      <m:d>
                        <m:dPr>
                          <m:sepChr m:val=","/>
                          <m:ctrlPr>
                            <a:rPr lang="ar-AE" sz="1200" i="1" kern="1200">
                              <a:solidFill>
                                <a:schemeClr val="tx1"/>
                              </a:solidFill>
                              <a:latin typeface="+mn-lt"/>
                              <a:ea typeface="+mn-ea"/>
                              <a:cs typeface="+mn-cs"/>
                            </a:rPr>
                          </m:ctrlPr>
                        </m:dPr>
                        <m:e>
                          <m:r>
                            <a:rPr lang="ar-AE" sz="1200" i="0" kern="1200">
                              <a:solidFill>
                                <a:schemeClr val="tx1"/>
                              </a:solidFill>
                              <a:latin typeface="+mn-lt"/>
                              <a:ea typeface="+mn-ea"/>
                              <a:cs typeface="+mn-cs"/>
                            </a:rPr>
                            <m:t>0</m:t>
                          </m:r>
                        </m:e>
                        <m:e>
                          <m:r>
                            <a:rPr lang="ar-AE" sz="1200" i="1" kern="1200">
                              <a:solidFill>
                                <a:schemeClr val="tx1"/>
                              </a:solidFill>
                              <a:latin typeface="+mn-lt"/>
                              <a:ea typeface="+mn-ea"/>
                              <a:cs typeface="+mn-cs"/>
                            </a:rPr>
                            <m:t>𝜎</m:t>
                          </m:r>
                        </m:e>
                      </m:d>
                    </m:oMath>
                  </m:oMathPara>
                </a14:m>
                <a:endParaRPr lang="ar-AE" dirty="0"/>
              </a:p>
              <a:p>
                <a:endParaRPr lang="en-IN" dirty="0"/>
              </a:p>
              <a:p>
                <a:endParaRPr lang="en-IN" dirty="0"/>
              </a:p>
              <a:p>
                <a:endParaRPr lang="en-IN" dirty="0"/>
              </a:p>
              <a:p>
                <a:endParaRPr lang="en-IN" dirty="0"/>
              </a:p>
              <a:p>
                <a:r>
                  <a:rPr lang="en-US" dirty="0"/>
                  <a:t>DDPG uses a </a:t>
                </a:r>
                <a:r>
                  <a:rPr lang="en-US" b="1" dirty="0"/>
                  <a:t>deterministic policy</a:t>
                </a:r>
                <a:r>
                  <a:rPr lang="en-US" dirty="0"/>
                  <a:t>.</a:t>
                </a:r>
                <a:br>
                  <a:rPr lang="en-US" dirty="0"/>
                </a:br>
                <a:r>
                  <a:rPr lang="en-US" dirty="0"/>
                  <a:t>This means, for the same state, the actor gives the exact same action every time.</a:t>
                </a:r>
              </a:p>
              <a:p>
                <a:r>
                  <a:rPr lang="en-US" dirty="0"/>
                  <a:t>But reinforcement learning needs </a:t>
                </a:r>
                <a:r>
                  <a:rPr lang="en-US" b="1" dirty="0"/>
                  <a:t>exploration</a:t>
                </a:r>
                <a:r>
                  <a:rPr lang="en-US" dirty="0"/>
                  <a:t>, otherwise:</a:t>
                </a:r>
              </a:p>
              <a:p>
                <a:r>
                  <a:rPr lang="en-US" dirty="0"/>
                  <a:t>The agent will keep repeating the same actions</a:t>
                </a:r>
              </a:p>
              <a:p>
                <a:r>
                  <a:rPr lang="en-US" dirty="0"/>
                  <a:t>It might get stuck in suboptimal </a:t>
                </a:r>
                <a:r>
                  <a:rPr lang="en-US" dirty="0" err="1"/>
                  <a:t>behaviour</a:t>
                </a:r>
                <a:endParaRPr lang="en-US" dirty="0"/>
              </a:p>
              <a:p>
                <a:r>
                  <a:rPr lang="en-US" dirty="0"/>
                  <a:t>It will not discover better solutions</a:t>
                </a:r>
              </a:p>
              <a:p>
                <a:r>
                  <a:rPr lang="en-US" dirty="0"/>
                  <a:t>Since the actor does </a:t>
                </a:r>
                <a:r>
                  <a:rPr lang="en-US" i="1" dirty="0"/>
                  <a:t>not</a:t>
                </a:r>
                <a:r>
                  <a:rPr lang="en-US" dirty="0"/>
                  <a:t> explore by itself, we manually add </a:t>
                </a:r>
                <a:r>
                  <a:rPr lang="en-US" b="1" dirty="0"/>
                  <a:t>noise</a:t>
                </a:r>
                <a:r>
                  <a:rPr lang="en-US" dirty="0"/>
                  <a:t> to its output during training.</a:t>
                </a:r>
              </a:p>
              <a:p>
                <a:r>
                  <a:rPr lang="en-US" dirty="0"/>
                  <a:t>Example:</a:t>
                </a:r>
              </a:p>
              <a:p>
                <a:r>
                  <a:rPr lang="en-US" dirty="0"/>
                  <a:t>action = actor(state) + noise</a:t>
                </a:r>
                <a:br>
                  <a:rPr lang="en-US" dirty="0"/>
                </a:br>
                <a:br>
                  <a:rPr lang="en-US" dirty="0"/>
                </a:br>
                <a:br>
                  <a:rPr lang="en-US" dirty="0"/>
                </a:br>
                <a:br>
                  <a:rPr lang="en-US" dirty="0"/>
                </a:br>
                <a:r>
                  <a:rPr lang="en-IN" dirty="0"/>
                  <a:t>DDPG uses two sets of networks:</a:t>
                </a:r>
              </a:p>
              <a:p>
                <a:r>
                  <a:rPr lang="en-IN" b="1" dirty="0"/>
                  <a:t>Main Actor &amp; Critic</a:t>
                </a:r>
                <a:r>
                  <a:rPr lang="en-IN" dirty="0"/>
                  <a:t> → these learn fast</a:t>
                </a:r>
              </a:p>
              <a:p>
                <a:r>
                  <a:rPr lang="en-IN" b="1" dirty="0"/>
                  <a:t>Target Actor &amp; Critic</a:t>
                </a:r>
                <a:r>
                  <a:rPr lang="en-IN" dirty="0"/>
                  <a:t> → these move slowly</a:t>
                </a:r>
              </a:p>
              <a:p>
                <a:r>
                  <a:rPr lang="en-IN" b="1" dirty="0"/>
                  <a:t> WHY?</a:t>
                </a:r>
              </a:p>
              <a:p>
                <a:r>
                  <a:rPr lang="en-IN" dirty="0"/>
                  <a:t>If the Actor and Critic update </a:t>
                </a:r>
                <a:r>
                  <a:rPr lang="en-IN" b="1" dirty="0"/>
                  <a:t>too quickly</a:t>
                </a:r>
                <a:r>
                  <a:rPr lang="en-IN" dirty="0"/>
                  <a:t>, the learning becomes unstable (like running on shifting ground).</a:t>
                </a:r>
              </a:p>
              <a:p>
                <a:r>
                  <a:rPr lang="en-IN" dirty="0"/>
                  <a:t>So DDPG uses </a:t>
                </a:r>
                <a:r>
                  <a:rPr lang="en-IN" b="1" dirty="0"/>
                  <a:t>soft updates</a:t>
                </a:r>
                <a:r>
                  <a:rPr lang="en-IN" dirty="0"/>
                  <a:t>:</a:t>
                </a:r>
              </a:p>
              <a:p>
                <a14:m>
                  <m:oMathPara xmlns:m="http://schemas.openxmlformats.org/officeDocument/2006/math">
                    <m:oMathParaPr>
                      <m:jc m:val="centerGroup"/>
                    </m:oMathParaPr>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𝜃</m:t>
                          </m:r>
                        </m:e>
                        <m:sub>
                          <m:r>
                            <m:rPr>
                              <m:nor/>
                            </m:rPr>
                            <a:rPr lang="en-IN" sz="1200" b="0" i="1" kern="1200">
                              <a:solidFill>
                                <a:schemeClr val="tx1"/>
                              </a:solidFill>
                              <a:latin typeface="+mn-lt"/>
                              <a:ea typeface="+mn-ea"/>
                              <a:cs typeface="+mn-cs"/>
                            </a:rPr>
                            <m:t>target</m:t>
                          </m:r>
                        </m:sub>
                      </m:sSub>
                      <m:r>
                        <a:rPr lang="ar-AE" sz="1200" b="0" i="0" kern="1200">
                          <a:solidFill>
                            <a:schemeClr val="tx1"/>
                          </a:solidFill>
                          <a:latin typeface="+mn-lt"/>
                          <a:ea typeface="+mn-ea"/>
                          <a:cs typeface="+mn-cs"/>
                        </a:rPr>
                        <m:t>←</m:t>
                      </m:r>
                      <m:r>
                        <a:rPr lang="ar-AE" sz="1200" b="0" i="1" kern="1200">
                          <a:solidFill>
                            <a:schemeClr val="tx1"/>
                          </a:solidFill>
                          <a:latin typeface="+mn-lt"/>
                          <a:ea typeface="+mn-ea"/>
                          <a:cs typeface="+mn-cs"/>
                        </a:rPr>
                        <m:t>𝜏𝜃</m:t>
                      </m:r>
                      <m:r>
                        <a:rPr lang="ar-AE" sz="1200" b="0" i="0" kern="1200">
                          <a:solidFill>
                            <a:schemeClr val="tx1"/>
                          </a:solidFill>
                          <a:latin typeface="+mn-lt"/>
                          <a:ea typeface="+mn-ea"/>
                          <a:cs typeface="+mn-cs"/>
                        </a:rPr>
                        <m:t>+</m:t>
                      </m:r>
                      <m:d>
                        <m:dPr>
                          <m:ctrlPr>
                            <a:rPr lang="ar-AE" sz="1200" b="0" i="1" kern="1200">
                              <a:solidFill>
                                <a:schemeClr val="tx1"/>
                              </a:solidFill>
                              <a:latin typeface="+mn-lt"/>
                              <a:ea typeface="+mn-ea"/>
                              <a:cs typeface="+mn-cs"/>
                            </a:rPr>
                          </m:ctrlPr>
                        </m:dPr>
                        <m:e>
                          <m:r>
                            <a:rPr lang="ar-AE" sz="1200" b="0" i="0" kern="1200">
                              <a:solidFill>
                                <a:schemeClr val="tx1"/>
                              </a:solidFill>
                              <a:latin typeface="+mn-lt"/>
                              <a:ea typeface="+mn-ea"/>
                              <a:cs typeface="+mn-cs"/>
                            </a:rPr>
                            <m:t>1</m:t>
                          </m:r>
                          <m:r>
                            <a:rPr lang="ar-AE" sz="1200" b="0" i="0" kern="1200">
                              <a:solidFill>
                                <a:schemeClr val="tx1"/>
                              </a:solidFill>
                              <a:latin typeface="+mn-lt"/>
                              <a:ea typeface="+mn-ea"/>
                              <a:cs typeface="+mn-cs"/>
                            </a:rPr>
                            <m:t>−</m:t>
                          </m:r>
                          <m:r>
                            <a:rPr lang="ar-AE" sz="1200" b="0" i="1" kern="1200">
                              <a:solidFill>
                                <a:schemeClr val="tx1"/>
                              </a:solidFill>
                              <a:latin typeface="+mn-lt"/>
                              <a:ea typeface="+mn-ea"/>
                              <a:cs typeface="+mn-cs"/>
                            </a:rPr>
                            <m:t>𝜏</m:t>
                          </m:r>
                        </m:e>
                      </m:d>
                      <m:sSub>
                        <m:sSubPr>
                          <m:ctrlPr>
                            <a:rPr lang="ar-AE" sz="1200" b="0" i="1" kern="1200">
                              <a:solidFill>
                                <a:schemeClr val="tx1"/>
                              </a:solidFill>
                              <a:latin typeface="+mn-lt"/>
                              <a:ea typeface="+mn-ea"/>
                              <a:cs typeface="+mn-cs"/>
                            </a:rPr>
                          </m:ctrlPr>
                        </m:sSubPr>
                        <m:e>
                          <m:r>
                            <a:rPr lang="ar-AE" sz="1200" b="0" i="1" kern="1200">
                              <a:solidFill>
                                <a:schemeClr val="tx1"/>
                              </a:solidFill>
                              <a:latin typeface="+mn-lt"/>
                              <a:ea typeface="+mn-ea"/>
                              <a:cs typeface="+mn-cs"/>
                            </a:rPr>
                            <m:t>𝜃</m:t>
                          </m:r>
                        </m:e>
                        <m:sub>
                          <m:r>
                            <m:rPr>
                              <m:nor/>
                            </m:rPr>
                            <a:rPr lang="en-IN" sz="1200" b="0" i="1" kern="1200">
                              <a:solidFill>
                                <a:schemeClr val="tx1"/>
                              </a:solidFill>
                              <a:latin typeface="+mn-lt"/>
                              <a:ea typeface="+mn-ea"/>
                              <a:cs typeface="+mn-cs"/>
                            </a:rPr>
                            <m:t>target</m:t>
                          </m:r>
                        </m:sub>
                      </m:sSub>
                    </m:oMath>
                  </m:oMathPara>
                </a14:m>
                <a:endParaRPr lang="ar-AE" b="0" dirty="0"/>
              </a:p>
              <a:p>
                <a:endParaRPr lang="en-US" dirty="0"/>
              </a:p>
              <a:p>
                <a:endParaRPr lang="en-IN" dirty="0"/>
              </a:p>
            </p:txBody>
          </p:sp>
        </mc:Choice>
        <mc:Fallback>
          <p:sp>
            <p:nvSpPr>
              <p:cNvPr id="3" name="Notes Placeholder 2"/>
              <p:cNvSpPr>
                <a:spLocks noGrp="1"/>
              </p:cNvSpPr>
              <p:nvPr>
                <p:ph type="body" idx="1"/>
              </p:nvPr>
            </p:nvSpPr>
            <p:spPr/>
            <p:txBody>
              <a:bodyPr/>
              <a:lstStyle/>
              <a:p>
                <a:r>
                  <a:rPr lang="en-IN" dirty="0"/>
                  <a:t>DDPG uses </a:t>
                </a:r>
                <a:r>
                  <a:rPr lang="en-IN" b="1" dirty="0"/>
                  <a:t>two networks</a:t>
                </a:r>
                <a:r>
                  <a:rPr lang="en-IN" dirty="0"/>
                  <a:t>:</a:t>
                </a:r>
              </a:p>
              <a:p>
                <a:r>
                  <a:rPr lang="en-IN" b="1" dirty="0"/>
                  <a:t>Actor Network</a:t>
                </a:r>
              </a:p>
              <a:p>
                <a:r>
                  <a:rPr lang="en-IN" dirty="0"/>
                  <a:t>Outputs the best continuous action</a:t>
                </a:r>
                <a:r>
                  <a:rPr lang="en-IN" sz="1200" i="0" kern="1200">
                    <a:solidFill>
                      <a:schemeClr val="tx1"/>
                    </a:solidFill>
                    <a:latin typeface="+mn-lt"/>
                    <a:ea typeface="+mn-ea"/>
                    <a:cs typeface="+mn-cs"/>
                  </a:rPr>
                  <a:t>𝑎=𝜋</a:t>
                </a:r>
                <a:r>
                  <a:rPr lang="ar-AE" sz="1200" i="0" kern="1200">
                    <a:solidFill>
                      <a:schemeClr val="tx1"/>
                    </a:solidFill>
                    <a:latin typeface="+mn-lt"/>
                    <a:ea typeface="+mn-ea"/>
                    <a:cs typeface="+mn-cs"/>
                  </a:rPr>
                  <a:t>(𝑠)</a:t>
                </a:r>
                <a:endParaRPr lang="ar-AE" dirty="0"/>
              </a:p>
              <a:p>
                <a:r>
                  <a:rPr lang="en-IN" b="1" dirty="0"/>
                  <a:t>Critic Network</a:t>
                </a:r>
              </a:p>
              <a:p>
                <a:r>
                  <a:rPr lang="en-IN" dirty="0"/>
                  <a:t>Estimates Q-value of that action</a:t>
                </a:r>
                <a:r>
                  <a:rPr lang="en-IN" sz="1200" i="0" kern="1200">
                    <a:solidFill>
                      <a:schemeClr val="tx1"/>
                    </a:solidFill>
                    <a:latin typeface="+mn-lt"/>
                    <a:ea typeface="+mn-ea"/>
                    <a:cs typeface="+mn-cs"/>
                  </a:rPr>
                  <a:t>𝑄</a:t>
                </a:r>
                <a:r>
                  <a:rPr lang="ar-AE" sz="1200" i="0" kern="1200">
                    <a:solidFill>
                      <a:schemeClr val="tx1"/>
                    </a:solidFill>
                    <a:latin typeface="+mn-lt"/>
                    <a:ea typeface="+mn-ea"/>
                    <a:cs typeface="+mn-cs"/>
                  </a:rPr>
                  <a:t>(𝑠ⓜ,𝑎)</a:t>
                </a:r>
                <a:endParaRPr lang="ar-AE" dirty="0"/>
              </a:p>
              <a:p>
                <a:endParaRPr lang="en-IN" dirty="0"/>
              </a:p>
              <a:p>
                <a:r>
                  <a:rPr lang="en-US" b="1" dirty="0"/>
                  <a:t>Actor–Critic in simple terms</a:t>
                </a:r>
              </a:p>
              <a:p>
                <a:r>
                  <a:rPr lang="en-US" b="1" dirty="0"/>
                  <a:t>Actor</a:t>
                </a:r>
              </a:p>
              <a:p>
                <a:r>
                  <a:rPr lang="en-US" dirty="0"/>
                  <a:t>The actor is a neural network that decides </a:t>
                </a:r>
                <a:r>
                  <a:rPr lang="en-US" b="1" dirty="0"/>
                  <a:t>what action to take</a:t>
                </a:r>
                <a:r>
                  <a:rPr lang="en-US" dirty="0"/>
                  <a:t> in a given state.</a:t>
                </a:r>
                <a:br>
                  <a:rPr lang="en-US" dirty="0"/>
                </a:br>
                <a:r>
                  <a:rPr lang="en-US" dirty="0"/>
                  <a:t>It directly outputs actions like thrust or steering angle.</a:t>
                </a:r>
              </a:p>
              <a:p>
                <a:r>
                  <a:rPr lang="en-US" dirty="0"/>
                  <a:t>In simple words:</a:t>
                </a:r>
                <a:br>
                  <a:rPr lang="en-US" dirty="0"/>
                </a:br>
                <a:r>
                  <a:rPr lang="en-US" dirty="0"/>
                  <a:t>Actor = the decision-maker.</a:t>
                </a:r>
              </a:p>
              <a:p>
                <a:r>
                  <a:rPr lang="en-US" b="1" dirty="0"/>
                  <a:t>Critic</a:t>
                </a:r>
              </a:p>
              <a:p>
                <a:r>
                  <a:rPr lang="en-US" dirty="0"/>
                  <a:t>The critic is a neural network that evaluates </a:t>
                </a:r>
                <a:r>
                  <a:rPr lang="en-US" b="1" dirty="0"/>
                  <a:t>how good the actor’s action is</a:t>
                </a:r>
                <a:r>
                  <a:rPr lang="en-US" dirty="0"/>
                  <a:t>.</a:t>
                </a:r>
                <a:br>
                  <a:rPr lang="en-US" dirty="0"/>
                </a:br>
                <a:r>
                  <a:rPr lang="en-US" dirty="0"/>
                  <a:t>It learns a Q-value (expected future reward) of taking action a in state s.</a:t>
                </a:r>
              </a:p>
              <a:p>
                <a:r>
                  <a:rPr lang="en-US" dirty="0"/>
                  <a:t>In simple words:</a:t>
                </a:r>
                <a:br>
                  <a:rPr lang="en-US" dirty="0"/>
                </a:br>
                <a:r>
                  <a:rPr lang="en-US" dirty="0"/>
                  <a:t>Critic = the evaluator or judge.</a:t>
                </a:r>
              </a:p>
              <a:p>
                <a:r>
                  <a:rPr lang="en-US" dirty="0"/>
                  <a:t>The actor tries to improve based on feedback from the critic.</a:t>
                </a:r>
              </a:p>
              <a:p>
                <a:endParaRPr lang="en-IN" dirty="0"/>
              </a:p>
              <a:p>
                <a:endParaRPr lang="en-IN" dirty="0"/>
              </a:p>
              <a:p>
                <a:endParaRPr lang="en-IN" dirty="0"/>
              </a:p>
              <a:p>
                <a:r>
                  <a:rPr lang="en-US" b="1" dirty="0"/>
                  <a:t>What is a Value Function in RL?</a:t>
                </a:r>
              </a:p>
              <a:p>
                <a:r>
                  <a:rPr lang="en-US" dirty="0"/>
                  <a:t>A value function tells </a:t>
                </a:r>
                <a:r>
                  <a:rPr lang="en-US" b="1" dirty="0"/>
                  <a:t>how good it is</a:t>
                </a:r>
                <a:r>
                  <a:rPr lang="en-US" dirty="0"/>
                  <a:t> to be in a state or take an action.</a:t>
                </a:r>
              </a:p>
              <a:p>
                <a:r>
                  <a:rPr lang="en-US" dirty="0"/>
                  <a:t>Examples:</a:t>
                </a:r>
                <a:br>
                  <a:rPr lang="en-US" dirty="0"/>
                </a:br>
                <a:r>
                  <a:rPr lang="en-US" dirty="0"/>
                  <a:t>• V(s): value of being in state s</a:t>
                </a:r>
                <a:br>
                  <a:rPr lang="en-US" dirty="0"/>
                </a:br>
                <a:r>
                  <a:rPr lang="en-US" dirty="0"/>
                  <a:t>• Q(s, a): value of taking action a in state s</a:t>
                </a:r>
              </a:p>
              <a:p>
                <a:r>
                  <a:rPr lang="en-US" dirty="0"/>
                  <a:t>Value = expected future reward.</a:t>
                </a:r>
              </a:p>
              <a:p>
                <a:br>
                  <a:rPr lang="en-US" dirty="0"/>
                </a:br>
                <a:endParaRPr lang="en-US" dirty="0"/>
              </a:p>
              <a:p>
                <a:r>
                  <a:rPr lang="en-US" b="1" dirty="0"/>
                  <a:t>What is a Policy in RL?</a:t>
                </a:r>
              </a:p>
              <a:p>
                <a:r>
                  <a:rPr lang="en-US" dirty="0"/>
                  <a:t>A policy tells the agent </a:t>
                </a:r>
                <a:r>
                  <a:rPr lang="en-US" b="1" dirty="0"/>
                  <a:t>what action to take</a:t>
                </a:r>
                <a:r>
                  <a:rPr lang="en-US" dirty="0"/>
                  <a:t>.</a:t>
                </a:r>
              </a:p>
              <a:p>
                <a:r>
                  <a:rPr lang="en-US" dirty="0"/>
                  <a:t>There are two types:</a:t>
                </a:r>
              </a:p>
              <a:p>
                <a:r>
                  <a:rPr lang="en-US" b="1" dirty="0"/>
                  <a:t>Deterministic Policy (Simple Meaning)</a:t>
                </a:r>
              </a:p>
              <a:p>
                <a:r>
                  <a:rPr lang="en-US" dirty="0"/>
                  <a:t>A deterministic policy always gives </a:t>
                </a:r>
                <a:r>
                  <a:rPr lang="en-US" b="1" dirty="0"/>
                  <a:t>one fixed action</a:t>
                </a:r>
                <a:r>
                  <a:rPr lang="en-US" dirty="0"/>
                  <a:t> for a given state.</a:t>
                </a:r>
              </a:p>
              <a:p>
                <a:r>
                  <a:rPr lang="en-US" dirty="0"/>
                  <a:t>If the state is the same, the action will always be exactly the same.</a:t>
                </a:r>
              </a:p>
              <a:p>
                <a:r>
                  <a:rPr lang="en-US" dirty="0"/>
                  <a:t>Example:</a:t>
                </a:r>
                <a:br>
                  <a:rPr lang="en-US" dirty="0"/>
                </a:br>
                <a:r>
                  <a:rPr lang="en-US" dirty="0"/>
                  <a:t>State = "lander is tilted left"</a:t>
                </a:r>
                <a:br>
                  <a:rPr lang="en-US" dirty="0"/>
                </a:br>
                <a:r>
                  <a:rPr lang="en-US" dirty="0"/>
                  <a:t>Deterministic policy action = "apply right thruster (exact value 0.42)"</a:t>
                </a:r>
              </a:p>
              <a:p>
                <a:r>
                  <a:rPr lang="en-US" dirty="0"/>
                  <a:t>There is </a:t>
                </a:r>
                <a:r>
                  <a:rPr lang="en-US" b="1" dirty="0"/>
                  <a:t>no randomness</a:t>
                </a:r>
                <a:r>
                  <a:rPr lang="en-US" dirty="0"/>
                  <a:t>.</a:t>
                </a:r>
              </a:p>
              <a:p>
                <a:br>
                  <a:rPr lang="en-US" dirty="0"/>
                </a:br>
                <a:endParaRPr lang="en-US" dirty="0"/>
              </a:p>
              <a:p>
                <a:r>
                  <a:rPr lang="en-US" b="1" dirty="0"/>
                  <a:t>Stochastic Policy (Simple Meaning)</a:t>
                </a:r>
              </a:p>
              <a:p>
                <a:r>
                  <a:rPr lang="en-US" dirty="0"/>
                  <a:t>A stochastic policy gives </a:t>
                </a:r>
                <a:r>
                  <a:rPr lang="en-US" b="1" dirty="0"/>
                  <a:t>a probability distribution of actions</a:t>
                </a:r>
                <a:r>
                  <a:rPr lang="en-US" dirty="0"/>
                  <a:t> for a given state.</a:t>
                </a:r>
              </a:p>
              <a:p>
                <a:r>
                  <a:rPr lang="en-US" dirty="0"/>
                  <a:t>The action you take can vary because it is sampled from probabilities.</a:t>
                </a:r>
              </a:p>
              <a:p>
                <a:r>
                  <a:rPr lang="en-US" dirty="0"/>
                  <a:t>Example:</a:t>
                </a:r>
                <a:br>
                  <a:rPr lang="en-US" dirty="0"/>
                </a:br>
                <a:r>
                  <a:rPr lang="en-US" dirty="0"/>
                  <a:t>State = "lander is tilted left"</a:t>
                </a:r>
                <a:br>
                  <a:rPr lang="en-US" dirty="0"/>
                </a:br>
                <a:r>
                  <a:rPr lang="en-US" dirty="0"/>
                  <a:t>Stochastic policy might say:</a:t>
                </a:r>
                <a:br>
                  <a:rPr lang="en-US" dirty="0"/>
                </a:br>
                <a:r>
                  <a:rPr lang="en-US" dirty="0"/>
                  <a:t>• 70% chance → apply right thruster</a:t>
                </a:r>
                <a:br>
                  <a:rPr lang="en-US" dirty="0"/>
                </a:br>
                <a:r>
                  <a:rPr lang="en-US" dirty="0"/>
                  <a:t>• 30% chance → apply main engine</a:t>
                </a:r>
              </a:p>
              <a:p>
                <a:r>
                  <a:rPr lang="en-US" dirty="0"/>
                  <a:t> </a:t>
                </a:r>
                <a:endParaRPr lang="en-US" b="1" dirty="0"/>
              </a:p>
              <a:p>
                <a:r>
                  <a:rPr lang="en-US" dirty="0"/>
                  <a:t>Policy = the agent’s behavior rule.</a:t>
                </a:r>
              </a:p>
              <a:p>
                <a:r>
                  <a:rPr lang="en-IN" dirty="0"/>
                  <a:t>So we add Gaussian noise:</a:t>
                </a:r>
              </a:p>
              <a:p>
                <a:r>
                  <a:rPr lang="en-IN" sz="1200" i="0" kern="1200">
                    <a:solidFill>
                      <a:schemeClr val="tx1"/>
                    </a:solidFill>
                    <a:latin typeface="+mn-lt"/>
                    <a:ea typeface="+mn-ea"/>
                    <a:cs typeface="+mn-cs"/>
                  </a:rPr>
                  <a:t>𝑎=𝜋</a:t>
                </a:r>
                <a:r>
                  <a:rPr lang="ar-AE" sz="1200" i="0" kern="1200">
                    <a:solidFill>
                      <a:schemeClr val="tx1"/>
                    </a:solidFill>
                    <a:latin typeface="+mn-lt"/>
                    <a:ea typeface="+mn-ea"/>
                    <a:cs typeface="+mn-cs"/>
                  </a:rPr>
                  <a:t>(𝑠)+𝒩(0ⓜ,𝜎)</a:t>
                </a:r>
                <a:endParaRPr lang="ar-AE" dirty="0"/>
              </a:p>
              <a:p>
                <a:endParaRPr lang="en-IN" dirty="0"/>
              </a:p>
              <a:p>
                <a:endParaRPr lang="en-IN" dirty="0"/>
              </a:p>
              <a:p>
                <a:endParaRPr lang="en-IN" dirty="0"/>
              </a:p>
              <a:p>
                <a:endParaRPr lang="en-IN" dirty="0"/>
              </a:p>
              <a:p>
                <a:r>
                  <a:rPr lang="en-US" dirty="0"/>
                  <a:t>DDPG uses a </a:t>
                </a:r>
                <a:r>
                  <a:rPr lang="en-US" b="1" dirty="0"/>
                  <a:t>deterministic policy</a:t>
                </a:r>
                <a:r>
                  <a:rPr lang="en-US" dirty="0"/>
                  <a:t>.</a:t>
                </a:r>
                <a:br>
                  <a:rPr lang="en-US" dirty="0"/>
                </a:br>
                <a:r>
                  <a:rPr lang="en-US" dirty="0"/>
                  <a:t>This means, for the same state, the actor gives the exact same action every time.</a:t>
                </a:r>
              </a:p>
              <a:p>
                <a:r>
                  <a:rPr lang="en-US" dirty="0"/>
                  <a:t>But reinforcement learning needs </a:t>
                </a:r>
                <a:r>
                  <a:rPr lang="en-US" b="1" dirty="0"/>
                  <a:t>exploration</a:t>
                </a:r>
                <a:r>
                  <a:rPr lang="en-US" dirty="0"/>
                  <a:t>, otherwise:</a:t>
                </a:r>
              </a:p>
              <a:p>
                <a:r>
                  <a:rPr lang="en-US" dirty="0"/>
                  <a:t>The agent will keep repeating the same actions</a:t>
                </a:r>
              </a:p>
              <a:p>
                <a:r>
                  <a:rPr lang="en-US" dirty="0"/>
                  <a:t>It might get stuck in suboptimal </a:t>
                </a:r>
                <a:r>
                  <a:rPr lang="en-US" dirty="0" err="1"/>
                  <a:t>behaviour</a:t>
                </a:r>
                <a:endParaRPr lang="en-US" dirty="0"/>
              </a:p>
              <a:p>
                <a:r>
                  <a:rPr lang="en-US" dirty="0"/>
                  <a:t>It will not discover better solutions</a:t>
                </a:r>
              </a:p>
              <a:p>
                <a:r>
                  <a:rPr lang="en-US" dirty="0"/>
                  <a:t>Since the actor does </a:t>
                </a:r>
                <a:r>
                  <a:rPr lang="en-US" i="1" dirty="0"/>
                  <a:t>not</a:t>
                </a:r>
                <a:r>
                  <a:rPr lang="en-US" dirty="0"/>
                  <a:t> explore by itself, we manually add </a:t>
                </a:r>
                <a:r>
                  <a:rPr lang="en-US" b="1" dirty="0"/>
                  <a:t>noise</a:t>
                </a:r>
                <a:r>
                  <a:rPr lang="en-US" dirty="0"/>
                  <a:t> to its output during training.</a:t>
                </a:r>
              </a:p>
              <a:p>
                <a:r>
                  <a:rPr lang="en-US" dirty="0"/>
                  <a:t>Example:</a:t>
                </a:r>
              </a:p>
              <a:p>
                <a:r>
                  <a:rPr lang="en-US" dirty="0"/>
                  <a:t>action = actor(state) + noise</a:t>
                </a:r>
                <a:br>
                  <a:rPr lang="en-US" dirty="0"/>
                </a:br>
                <a:br>
                  <a:rPr lang="en-US" dirty="0"/>
                </a:br>
                <a:br>
                  <a:rPr lang="en-US" dirty="0"/>
                </a:br>
                <a:br>
                  <a:rPr lang="en-US" dirty="0"/>
                </a:br>
                <a:r>
                  <a:rPr lang="en-IN" dirty="0"/>
                  <a:t>DDPG uses two sets of networks:</a:t>
                </a:r>
              </a:p>
              <a:p>
                <a:r>
                  <a:rPr lang="en-IN" b="1" dirty="0"/>
                  <a:t>Main Actor &amp; Critic</a:t>
                </a:r>
                <a:r>
                  <a:rPr lang="en-IN" dirty="0"/>
                  <a:t> → these learn fast</a:t>
                </a:r>
              </a:p>
              <a:p>
                <a:r>
                  <a:rPr lang="en-IN" b="1" dirty="0"/>
                  <a:t>Target Actor &amp; Critic</a:t>
                </a:r>
                <a:r>
                  <a:rPr lang="en-IN" dirty="0"/>
                  <a:t> → these move slowly</a:t>
                </a:r>
              </a:p>
              <a:p>
                <a:r>
                  <a:rPr lang="en-IN" b="1" dirty="0"/>
                  <a:t> WHY?</a:t>
                </a:r>
              </a:p>
              <a:p>
                <a:r>
                  <a:rPr lang="en-IN" dirty="0"/>
                  <a:t>If the Actor and Critic update </a:t>
                </a:r>
                <a:r>
                  <a:rPr lang="en-IN" b="1" dirty="0"/>
                  <a:t>too quickly</a:t>
                </a:r>
                <a:r>
                  <a:rPr lang="en-IN" dirty="0"/>
                  <a:t>, the learning becomes unstable (like running on shifting ground).</a:t>
                </a:r>
              </a:p>
              <a:p>
                <a:r>
                  <a:rPr lang="en-IN" dirty="0"/>
                  <a:t>So DDPG uses </a:t>
                </a:r>
                <a:r>
                  <a:rPr lang="en-IN" b="1" dirty="0"/>
                  <a:t>soft updates</a:t>
                </a:r>
                <a:r>
                  <a:rPr lang="en-IN" dirty="0"/>
                  <a:t>:</a:t>
                </a:r>
              </a:p>
              <a:p>
                <a:r>
                  <a:rPr lang="ar-AE" sz="1200" i="0" kern="1200">
                    <a:solidFill>
                      <a:schemeClr val="tx1"/>
                    </a:solidFill>
                    <a:latin typeface="+mn-lt"/>
                    <a:ea typeface="+mn-ea"/>
                    <a:cs typeface="+mn-cs"/>
                  </a:rPr>
                  <a:t>𝜃_</a:t>
                </a:r>
                <a:r>
                  <a:rPr lang="en-IN" sz="1200" b="0" i="0" kern="1200">
                    <a:solidFill>
                      <a:schemeClr val="tx1"/>
                    </a:solidFill>
                    <a:latin typeface="+mn-lt"/>
                    <a:ea typeface="+mn-ea"/>
                    <a:cs typeface="+mn-cs"/>
                  </a:rPr>
                  <a:t>"target</a:t>
                </a:r>
                <a:r>
                  <a:rPr lang="ar-AE" sz="1200" b="0" i="0" kern="1200">
                    <a:solidFill>
                      <a:schemeClr val="tx1"/>
                    </a:solidFill>
                    <a:latin typeface="+mn-lt"/>
                    <a:ea typeface="+mn-ea"/>
                    <a:cs typeface="+mn-cs"/>
                  </a:rPr>
                  <a:t>" ←𝜏𝜃+(1−𝜏) 𝜃_</a:t>
                </a:r>
                <a:r>
                  <a:rPr lang="en-IN" sz="1200" b="0" i="0" kern="1200">
                    <a:solidFill>
                      <a:schemeClr val="tx1"/>
                    </a:solidFill>
                    <a:latin typeface="+mn-lt"/>
                    <a:ea typeface="+mn-ea"/>
                    <a:cs typeface="+mn-cs"/>
                  </a:rPr>
                  <a:t>"target</a:t>
                </a:r>
                <a:r>
                  <a:rPr lang="ar-AE" sz="1200" b="0" i="0" kern="1200">
                    <a:solidFill>
                      <a:schemeClr val="tx1"/>
                    </a:solidFill>
                    <a:latin typeface="+mn-lt"/>
                    <a:ea typeface="+mn-ea"/>
                    <a:cs typeface="+mn-cs"/>
                  </a:rPr>
                  <a:t>" </a:t>
                </a:r>
                <a:endParaRPr lang="ar-AE" b="0" dirty="0"/>
              </a:p>
              <a:p>
                <a:endParaRPr lang="en-US" dirty="0"/>
              </a:p>
              <a:p>
                <a:endParaRPr lang="en-IN" dirty="0"/>
              </a:p>
            </p:txBody>
          </p:sp>
        </mc:Fallback>
      </mc:AlternateContent>
      <p:sp>
        <p:nvSpPr>
          <p:cNvPr id="4" name="Slide Number Placeholder 3"/>
          <p:cNvSpPr>
            <a:spLocks noGrp="1"/>
          </p:cNvSpPr>
          <p:nvPr>
            <p:ph type="sldNum" sz="quarter" idx="5"/>
          </p:nvPr>
        </p:nvSpPr>
        <p:spPr/>
        <p:txBody>
          <a:bodyPr/>
          <a:lstStyle/>
          <a:p>
            <a:fld id="{AC11D0DC-97A2-4196-AA58-37AB0C852D6E}" type="slidenum">
              <a:rPr lang="en-IN" smtClean="0"/>
              <a:t>3</a:t>
            </a:fld>
            <a:endParaRPr lang="en-IN"/>
          </a:p>
        </p:txBody>
      </p:sp>
    </p:spTree>
    <p:extLst>
      <p:ext uri="{BB962C8B-B14F-4D97-AF65-F5344CB8AC3E}">
        <p14:creationId xmlns:p14="http://schemas.microsoft.com/office/powerpoint/2010/main" val="21229188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torch</a:t>
            </a:r>
          </a:p>
          <a:p>
            <a:r>
              <a:rPr lang="en-US" dirty="0"/>
              <a:t>Main </a:t>
            </a:r>
            <a:r>
              <a:rPr lang="en-US" dirty="0" err="1"/>
              <a:t>PyTorch</a:t>
            </a:r>
            <a:r>
              <a:rPr lang="en-US" dirty="0"/>
              <a:t> library used for tensors, math operations, and gradients.</a:t>
            </a:r>
          </a:p>
          <a:p>
            <a:r>
              <a:rPr lang="en-US" b="1" dirty="0" err="1"/>
              <a:t>torch.nn</a:t>
            </a:r>
            <a:endParaRPr lang="en-US" b="1" dirty="0"/>
          </a:p>
          <a:p>
            <a:r>
              <a:rPr lang="en-US" dirty="0"/>
              <a:t>Used to build neural networks (layers, activations, loss functions).</a:t>
            </a:r>
          </a:p>
          <a:p>
            <a:r>
              <a:rPr lang="en-US" b="1" dirty="0" err="1"/>
              <a:t>torch.optim</a:t>
            </a:r>
            <a:endParaRPr lang="en-US" b="1" dirty="0"/>
          </a:p>
          <a:p>
            <a:r>
              <a:rPr lang="en-US" dirty="0"/>
              <a:t>Provides optimizers like Adam for updating network weights.</a:t>
            </a:r>
          </a:p>
          <a:p>
            <a:r>
              <a:rPr lang="en-US" b="1" dirty="0" err="1"/>
              <a:t>torch.nn.functional</a:t>
            </a:r>
            <a:r>
              <a:rPr lang="en-US" b="1" dirty="0"/>
              <a:t> (F)</a:t>
            </a:r>
          </a:p>
          <a:p>
            <a:r>
              <a:rPr lang="en-US" dirty="0"/>
              <a:t>Contains activation functions and utility functions used inside networks.</a:t>
            </a:r>
          </a:p>
          <a:p>
            <a:endParaRPr lang="en-IN" dirty="0"/>
          </a:p>
        </p:txBody>
      </p:sp>
      <p:sp>
        <p:nvSpPr>
          <p:cNvPr id="4" name="Slide Number Placeholder 3"/>
          <p:cNvSpPr>
            <a:spLocks noGrp="1"/>
          </p:cNvSpPr>
          <p:nvPr>
            <p:ph type="sldNum" sz="quarter" idx="5"/>
          </p:nvPr>
        </p:nvSpPr>
        <p:spPr/>
        <p:txBody>
          <a:bodyPr/>
          <a:lstStyle/>
          <a:p>
            <a:fld id="{AC11D0DC-97A2-4196-AA58-37AB0C852D6E}" type="slidenum">
              <a:rPr lang="en-IN" smtClean="0"/>
              <a:t>5</a:t>
            </a:fld>
            <a:endParaRPr lang="en-IN"/>
          </a:p>
        </p:txBody>
      </p:sp>
    </p:spTree>
    <p:extLst>
      <p:ext uri="{BB962C8B-B14F-4D97-AF65-F5344CB8AC3E}">
        <p14:creationId xmlns:p14="http://schemas.microsoft.com/office/powerpoint/2010/main" val="171635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Actor Class – Neural Network for Action Selection</a:t>
            </a:r>
          </a:p>
          <a:p>
            <a:r>
              <a:rPr lang="en-US" dirty="0"/>
              <a:t>The </a:t>
            </a:r>
            <a:r>
              <a:rPr lang="en-US" b="1" dirty="0"/>
              <a:t>Actor</a:t>
            </a:r>
            <a:r>
              <a:rPr lang="en-US" dirty="0"/>
              <a:t> is a neural network that decides </a:t>
            </a:r>
            <a:r>
              <a:rPr lang="en-US" i="1" dirty="0"/>
              <a:t>what action</a:t>
            </a:r>
            <a:r>
              <a:rPr lang="en-US" dirty="0"/>
              <a:t> the agent should take in each state.</a:t>
            </a:r>
          </a:p>
          <a:p>
            <a:r>
              <a:rPr lang="en-US" dirty="0"/>
              <a:t>It represents the </a:t>
            </a:r>
            <a:r>
              <a:rPr lang="en-US" b="1" dirty="0"/>
              <a:t>policy</a:t>
            </a:r>
            <a:r>
              <a:rPr lang="en-US" dirty="0"/>
              <a:t> of the agent.</a:t>
            </a:r>
          </a:p>
          <a:p>
            <a:r>
              <a:rPr lang="en-US" dirty="0"/>
              <a:t>Input → state</a:t>
            </a:r>
            <a:br>
              <a:rPr lang="en-US" dirty="0"/>
            </a:br>
            <a:r>
              <a:rPr lang="en-US" dirty="0"/>
              <a:t>Output → continuous action (like engine thrust values in Lunar Lander)</a:t>
            </a:r>
          </a:p>
          <a:p>
            <a:r>
              <a:rPr lang="en-US" dirty="0"/>
              <a:t>The actor learns to produce actions that lead to higher rewards.</a:t>
            </a:r>
            <a:br>
              <a:rPr lang="en-US" dirty="0"/>
            </a:br>
            <a:r>
              <a:rPr lang="en-US" dirty="0"/>
              <a:t>In DDPG, this action is </a:t>
            </a:r>
            <a:r>
              <a:rPr lang="en-US" b="1" dirty="0"/>
              <a:t>deterministic</a:t>
            </a:r>
            <a:r>
              <a:rPr lang="en-US" dirty="0"/>
              <a:t> (no randomness).</a:t>
            </a:r>
            <a:br>
              <a:rPr lang="en-US" dirty="0"/>
            </a:br>
            <a:r>
              <a:rPr lang="en-US" dirty="0"/>
              <a:t>To enable exploration during training, small noise is later added externally.</a:t>
            </a:r>
          </a:p>
          <a:p>
            <a:br>
              <a:rPr lang="en-US" dirty="0"/>
            </a:br>
            <a:endParaRPr lang="en-US" dirty="0"/>
          </a:p>
          <a:p>
            <a:r>
              <a:rPr lang="en-US" b="1" dirty="0"/>
              <a:t>2. Critic Class – Neural Network for Q-Value Estimation</a:t>
            </a:r>
          </a:p>
          <a:p>
            <a:r>
              <a:rPr lang="en-US" dirty="0"/>
              <a:t>The </a:t>
            </a:r>
            <a:r>
              <a:rPr lang="en-US" b="1" dirty="0"/>
              <a:t>Critic</a:t>
            </a:r>
            <a:r>
              <a:rPr lang="en-US" dirty="0"/>
              <a:t> is another neural network.</a:t>
            </a:r>
            <a:br>
              <a:rPr lang="en-US" dirty="0"/>
            </a:br>
            <a:r>
              <a:rPr lang="en-US" dirty="0"/>
              <a:t>Instead of choosing actions, it </a:t>
            </a:r>
            <a:r>
              <a:rPr lang="en-US" b="1" dirty="0"/>
              <a:t>evaluates actions</a:t>
            </a:r>
            <a:r>
              <a:rPr lang="en-US" dirty="0"/>
              <a:t> by estimating:</a:t>
            </a:r>
          </a:p>
          <a:p>
            <a:r>
              <a:rPr lang="en-US" dirty="0"/>
              <a:t>Q(s, a) = how good this action is in this state</a:t>
            </a:r>
          </a:p>
          <a:p>
            <a:r>
              <a:rPr lang="en-US" dirty="0"/>
              <a:t>The critic uses the </a:t>
            </a:r>
            <a:r>
              <a:rPr lang="en-US" b="1" dirty="0"/>
              <a:t>Bellman equation</a:t>
            </a:r>
            <a:r>
              <a:rPr lang="en-US" dirty="0"/>
              <a:t> to learn the expected future reward.</a:t>
            </a:r>
            <a:br>
              <a:rPr lang="en-US" dirty="0"/>
            </a:br>
            <a:r>
              <a:rPr lang="en-US" dirty="0"/>
              <a:t>Its job is to guide the actor by telling it which actions are “better.”</a:t>
            </a:r>
          </a:p>
          <a:p>
            <a:r>
              <a:rPr lang="en-US" dirty="0"/>
              <a:t>So:</a:t>
            </a:r>
          </a:p>
          <a:p>
            <a:r>
              <a:rPr lang="en-US" dirty="0"/>
              <a:t>Actor → suggests actions</a:t>
            </a:r>
            <a:br>
              <a:rPr lang="en-US" dirty="0"/>
            </a:br>
            <a:r>
              <a:rPr lang="en-US" dirty="0"/>
              <a:t>Critic → scores those actions</a:t>
            </a:r>
          </a:p>
          <a:p>
            <a:r>
              <a:rPr lang="en-US" dirty="0"/>
              <a:t>This cooperation is what makes DDPG a stable algorithm.</a:t>
            </a:r>
          </a:p>
          <a:p>
            <a:br>
              <a:rPr lang="en-US" dirty="0"/>
            </a:br>
            <a:endParaRPr lang="en-US" dirty="0"/>
          </a:p>
          <a:p>
            <a:r>
              <a:rPr lang="en-US" b="1" dirty="0"/>
              <a:t>3. </a:t>
            </a:r>
            <a:r>
              <a:rPr lang="en-US" b="1" dirty="0" err="1"/>
              <a:t>ReplayBuffer</a:t>
            </a:r>
            <a:r>
              <a:rPr lang="en-US" b="1" dirty="0"/>
              <a:t> Class – Experience Storage &amp; Sampling System</a:t>
            </a:r>
          </a:p>
          <a:p>
            <a:r>
              <a:rPr lang="en-US" dirty="0"/>
              <a:t>The replay buffer stores past experiences of the agent:</a:t>
            </a:r>
          </a:p>
          <a:p>
            <a:r>
              <a:rPr lang="en-US" dirty="0"/>
              <a:t>(state, action, reward, </a:t>
            </a:r>
            <a:r>
              <a:rPr lang="en-US" dirty="0" err="1"/>
              <a:t>next_state</a:t>
            </a:r>
            <a:r>
              <a:rPr lang="en-US" dirty="0"/>
              <a:t>, done)</a:t>
            </a:r>
          </a:p>
          <a:p>
            <a:r>
              <a:rPr lang="en-US" dirty="0"/>
              <a:t>This storage helps the learning process in two important ways:</a:t>
            </a:r>
          </a:p>
          <a:p>
            <a:r>
              <a:rPr lang="en-US" dirty="0"/>
              <a:t>It breaks the correlation between consecutive frames.</a:t>
            </a:r>
            <a:br>
              <a:rPr lang="en-US" dirty="0"/>
            </a:br>
            <a:r>
              <a:rPr lang="en-US" dirty="0"/>
              <a:t>(Training on shuffled experiences stabilizes learning.)</a:t>
            </a:r>
          </a:p>
          <a:p>
            <a:r>
              <a:rPr lang="en-US" dirty="0"/>
              <a:t>It allows the agent to reuse past experiences many times.</a:t>
            </a:r>
            <a:br>
              <a:rPr lang="en-US" dirty="0"/>
            </a:br>
            <a:r>
              <a:rPr lang="en-US" dirty="0"/>
              <a:t>(This makes learning sample-efficient.)</a:t>
            </a:r>
          </a:p>
          <a:p>
            <a:r>
              <a:rPr lang="en-US" dirty="0"/>
              <a:t>During training, mini-batches are randomly sampled from this buffer and fed into the actor and critic for learning.</a:t>
            </a:r>
          </a:p>
          <a:p>
            <a:br>
              <a:rPr lang="en-US" dirty="0"/>
            </a:br>
            <a:endParaRPr lang="en-US" dirty="0"/>
          </a:p>
          <a:p>
            <a:r>
              <a:rPr lang="en-US" b="1" dirty="0"/>
              <a:t>4. </a:t>
            </a:r>
            <a:r>
              <a:rPr lang="en-US" b="1" dirty="0" err="1"/>
              <a:t>DDPGAgent</a:t>
            </a:r>
            <a:r>
              <a:rPr lang="en-US" b="1" dirty="0"/>
              <a:t> Class – Core Learning, Updating &amp; Control Logic</a:t>
            </a:r>
          </a:p>
          <a:p>
            <a:r>
              <a:rPr lang="en-US" dirty="0"/>
              <a:t>This is the central class that manages the entire DDPG process.</a:t>
            </a:r>
          </a:p>
          <a:p>
            <a:r>
              <a:rPr lang="en-US" dirty="0"/>
              <a:t>It brings together:</a:t>
            </a:r>
          </a:p>
          <a:p>
            <a:r>
              <a:rPr lang="en-US" dirty="0"/>
              <a:t>• Actor</a:t>
            </a:r>
            <a:br>
              <a:rPr lang="en-US" dirty="0"/>
            </a:br>
            <a:r>
              <a:rPr lang="en-US" dirty="0"/>
              <a:t>• Critic</a:t>
            </a:r>
            <a:br>
              <a:rPr lang="en-US" dirty="0"/>
            </a:br>
            <a:r>
              <a:rPr lang="en-US" dirty="0"/>
              <a:t>• Target Actor</a:t>
            </a:r>
            <a:br>
              <a:rPr lang="en-US" dirty="0"/>
            </a:br>
            <a:r>
              <a:rPr lang="en-US" dirty="0"/>
              <a:t>• Target Critic</a:t>
            </a:r>
            <a:br>
              <a:rPr lang="en-US" dirty="0"/>
            </a:br>
            <a:r>
              <a:rPr lang="en-US" dirty="0"/>
              <a:t>• Replay Buffer</a:t>
            </a:r>
          </a:p>
          <a:p>
            <a:endParaRPr lang="en-IN" dirty="0"/>
          </a:p>
          <a:p>
            <a:endParaRPr lang="en-IN" dirty="0"/>
          </a:p>
          <a:p>
            <a:endParaRPr lang="en-IN" dirty="0"/>
          </a:p>
          <a:p>
            <a:endParaRPr lang="en-IN" dirty="0"/>
          </a:p>
          <a:p>
            <a:r>
              <a:rPr lang="en-US" dirty="0"/>
              <a:t>DDPG uses a </a:t>
            </a:r>
            <a:r>
              <a:rPr lang="en-US" b="1" dirty="0"/>
              <a:t>deterministic policy</a:t>
            </a:r>
            <a:r>
              <a:rPr lang="en-US" dirty="0"/>
              <a:t>.</a:t>
            </a:r>
            <a:br>
              <a:rPr lang="en-US" dirty="0"/>
            </a:br>
            <a:r>
              <a:rPr lang="en-US" dirty="0"/>
              <a:t>This means, for the same state, the actor gives the exact same action every time.</a:t>
            </a:r>
          </a:p>
          <a:p>
            <a:r>
              <a:rPr lang="en-US" dirty="0"/>
              <a:t>But reinforcement learning needs </a:t>
            </a:r>
            <a:r>
              <a:rPr lang="en-US" b="1" dirty="0"/>
              <a:t>exploration</a:t>
            </a:r>
            <a:r>
              <a:rPr lang="en-US" dirty="0"/>
              <a:t>, otherwise:</a:t>
            </a:r>
          </a:p>
          <a:p>
            <a:r>
              <a:rPr lang="en-US" dirty="0"/>
              <a:t>The agent will keep repeating the same actions</a:t>
            </a:r>
          </a:p>
          <a:p>
            <a:r>
              <a:rPr lang="en-US" dirty="0"/>
              <a:t>It might get stuck in suboptimal </a:t>
            </a:r>
            <a:r>
              <a:rPr lang="en-US" dirty="0" err="1"/>
              <a:t>behaviour</a:t>
            </a:r>
            <a:endParaRPr lang="en-US" dirty="0"/>
          </a:p>
          <a:p>
            <a:r>
              <a:rPr lang="en-US" dirty="0"/>
              <a:t>It will not discover better solutions</a:t>
            </a:r>
          </a:p>
        </p:txBody>
      </p:sp>
      <p:sp>
        <p:nvSpPr>
          <p:cNvPr id="4" name="Slide Number Placeholder 3"/>
          <p:cNvSpPr>
            <a:spLocks noGrp="1"/>
          </p:cNvSpPr>
          <p:nvPr>
            <p:ph type="sldNum" sz="quarter" idx="5"/>
          </p:nvPr>
        </p:nvSpPr>
        <p:spPr/>
        <p:txBody>
          <a:bodyPr/>
          <a:lstStyle/>
          <a:p>
            <a:fld id="{AC11D0DC-97A2-4196-AA58-37AB0C852D6E}" type="slidenum">
              <a:rPr lang="en-IN" smtClean="0"/>
              <a:t>6</a:t>
            </a:fld>
            <a:endParaRPr lang="en-IN"/>
          </a:p>
        </p:txBody>
      </p:sp>
    </p:spTree>
    <p:extLst>
      <p:ext uri="{BB962C8B-B14F-4D97-AF65-F5344CB8AC3E}">
        <p14:creationId xmlns:p14="http://schemas.microsoft.com/office/powerpoint/2010/main" val="1869783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C11D0DC-97A2-4196-AA58-37AB0C852D6E}" type="slidenum">
              <a:rPr lang="en-IN" smtClean="0"/>
              <a:t>13</a:t>
            </a:fld>
            <a:endParaRPr lang="en-IN"/>
          </a:p>
        </p:txBody>
      </p:sp>
    </p:spTree>
    <p:extLst>
      <p:ext uri="{BB962C8B-B14F-4D97-AF65-F5344CB8AC3E}">
        <p14:creationId xmlns:p14="http://schemas.microsoft.com/office/powerpoint/2010/main" val="333203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11/19/2025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83352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11/19/2025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2013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11/19/2025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8890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11/19/2025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51453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11/19/2025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05506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11/19/2025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16365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11/19/2025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23566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11/19/2025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628373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11/19/2025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67482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11/19/2025</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0741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11/19/2025</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80613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461192D4-3DEB-49BB-8F09-91031D57C7DB}"/>
              </a:ext>
            </a:extLst>
          </p:cNvPr>
          <p:cNvSpPr>
            <a:spLocks noGrp="1"/>
          </p:cNvSpPr>
          <p:nvPr>
            <p:ph type="pic" sz="quarter" idx="14" hasCustomPrompt="1"/>
          </p:nvPr>
        </p:nvSpPr>
        <p:spPr>
          <a:xfrm>
            <a:off x="0" y="0"/>
            <a:ext cx="12196224" cy="6858000"/>
          </a:xfrm>
          <a:solidFill>
            <a:schemeClr val="accent1"/>
          </a:solidFill>
        </p:spPr>
        <p:txBody>
          <a:bodyPr tIns="1280160" anchor="ctr">
            <a:noAutofit/>
          </a:bodyPr>
          <a:lstStyle>
            <a:lvl1pPr algn="ctr">
              <a:defRPr sz="2000"/>
            </a:lvl1pPr>
          </a:lstStyle>
          <a:p>
            <a:r>
              <a:rPr lang="en-US" dirty="0"/>
              <a:t>Click to insert image here</a:t>
            </a:r>
          </a:p>
          <a:p>
            <a:endParaRPr lang="en-US" dirty="0"/>
          </a:p>
        </p:txBody>
      </p:sp>
      <p:sp>
        <p:nvSpPr>
          <p:cNvPr id="3" name="Title 2">
            <a:extLst>
              <a:ext uri="{FF2B5EF4-FFF2-40B4-BE49-F238E27FC236}">
                <a16:creationId xmlns:a16="http://schemas.microsoft.com/office/drawing/2014/main" id="{9194C4FA-8597-7449-A0F1-38E8A1C6B852}"/>
              </a:ext>
            </a:extLst>
          </p:cNvPr>
          <p:cNvSpPr>
            <a:spLocks noGrp="1"/>
          </p:cNvSpPr>
          <p:nvPr>
            <p:ph type="title" hasCustomPrompt="1"/>
          </p:nvPr>
        </p:nvSpPr>
        <p:spPr>
          <a:xfrm>
            <a:off x="-11018" y="1526016"/>
            <a:ext cx="12188952" cy="2031324"/>
          </a:xfrm>
          <a:solidFill>
            <a:schemeClr val="tx1">
              <a:lumMod val="85000"/>
              <a:lumOff val="15000"/>
              <a:alpha val="60000"/>
            </a:schemeClr>
          </a:solidFill>
        </p:spPr>
        <p:txBody>
          <a:bodyPr lIns="868680" tIns="91440">
            <a:normAutofit/>
          </a:bodyPr>
          <a:lstStyle>
            <a:lvl1pPr>
              <a:defRPr sz="4000" b="1">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259795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ED8B338-CD86-47FF-A4B9-9EE6A11AFBFD}"/>
              </a:ext>
            </a:extLst>
          </p:cNvPr>
          <p:cNvSpPr>
            <a:spLocks noGrp="1"/>
          </p:cNvSpPr>
          <p:nvPr>
            <p:ph type="pic" sz="quarter" idx="15" hasCustomPrompt="1"/>
          </p:nvPr>
        </p:nvSpPr>
        <p:spPr>
          <a:xfrm>
            <a:off x="5511344" y="0"/>
            <a:ext cx="6680656" cy="6858000"/>
          </a:xfrm>
          <a:prstGeom prst="rect">
            <a:avLst/>
          </a:prstGeom>
        </p:spPr>
        <p:txBody>
          <a:bodyPr/>
          <a:lstStyle>
            <a:lvl1pPr marL="0" indent="0" algn="ctr">
              <a:buNone/>
              <a:defRPr/>
            </a:lvl1pPr>
          </a:lstStyle>
          <a:p>
            <a:r>
              <a:rPr lang="en-US" dirty="0"/>
              <a:t>Click to add photo</a:t>
            </a:r>
          </a:p>
        </p:txBody>
      </p:sp>
      <p:sp>
        <p:nvSpPr>
          <p:cNvPr id="11" name="Rectangle 10">
            <a:extLst>
              <a:ext uri="{FF2B5EF4-FFF2-40B4-BE49-F238E27FC236}">
                <a16:creationId xmlns:a16="http://schemas.microsoft.com/office/drawing/2014/main" id="{FAF4E84F-A3BE-442F-B9F1-68AB2244AF96}"/>
              </a:ext>
              <a:ext uri="{C183D7F6-B498-43B3-948B-1728B52AA6E4}">
                <adec:decorative xmlns:adec="http://schemas.microsoft.com/office/drawing/2017/decorative" val="1"/>
              </a:ext>
            </a:extLst>
          </p:cNvPr>
          <p:cNvSpPr/>
          <p:nvPr userDrawn="1"/>
        </p:nvSpPr>
        <p:spPr>
          <a:xfrm>
            <a:off x="-20320" y="-7084"/>
            <a:ext cx="5511344" cy="6858000"/>
          </a:xfrm>
          <a:prstGeom prst="rect">
            <a:avLst/>
          </a:pr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39AED10-F37C-48B3-A407-EDC6878C712E}"/>
              </a:ext>
            </a:extLst>
          </p:cNvPr>
          <p:cNvSpPr>
            <a:spLocks noGrp="1"/>
          </p:cNvSpPr>
          <p:nvPr>
            <p:ph type="title" hasCustomPrompt="1"/>
          </p:nvPr>
        </p:nvSpPr>
        <p:spPr>
          <a:xfrm>
            <a:off x="1486566" y="3035081"/>
            <a:ext cx="2341256" cy="640698"/>
          </a:xfrm>
          <a:prstGeom prst="rect">
            <a:avLst/>
          </a:prstGeom>
          <a:ln w="28575">
            <a:solidFill>
              <a:schemeClr val="accent4">
                <a:lumMod val="50000"/>
              </a:schemeClr>
            </a:solidFill>
          </a:ln>
        </p:spPr>
        <p:txBody>
          <a:bodyPr anchor="ctr"/>
          <a:lstStyle>
            <a:lvl1pPr algn="ctr">
              <a:defRPr sz="2400" cap="all" spc="100" baseline="0">
                <a:solidFill>
                  <a:schemeClr val="accent4">
                    <a:lumMod val="50000"/>
                  </a:schemeClr>
                </a:solidFill>
              </a:defRPr>
            </a:lvl1pPr>
          </a:lstStyle>
          <a:p>
            <a:r>
              <a:rPr lang="en-US" dirty="0"/>
              <a:t>Add title</a:t>
            </a:r>
          </a:p>
        </p:txBody>
      </p:sp>
      <p:sp>
        <p:nvSpPr>
          <p:cNvPr id="7" name="Text Placeholder 10">
            <a:extLst>
              <a:ext uri="{FF2B5EF4-FFF2-40B4-BE49-F238E27FC236}">
                <a16:creationId xmlns:a16="http://schemas.microsoft.com/office/drawing/2014/main" id="{F20D097E-45D7-422E-A8D1-635C7DE9A997}"/>
              </a:ext>
            </a:extLst>
          </p:cNvPr>
          <p:cNvSpPr>
            <a:spLocks noGrp="1"/>
          </p:cNvSpPr>
          <p:nvPr>
            <p:ph type="body" sz="quarter" idx="14" hasCustomPrompt="1"/>
          </p:nvPr>
        </p:nvSpPr>
        <p:spPr>
          <a:xfrm>
            <a:off x="1704805" y="3959761"/>
            <a:ext cx="2879477" cy="1790164"/>
          </a:xfrm>
          <a:prstGeom prst="rect">
            <a:avLst/>
          </a:prstGeom>
        </p:spPr>
        <p:txBody>
          <a:bodyPr anchor="t"/>
          <a:lstStyle>
            <a:lvl1pPr marL="0" indent="0" algn="l">
              <a:lnSpc>
                <a:spcPct val="80000"/>
              </a:lnSpc>
              <a:spcBef>
                <a:spcPts val="0"/>
              </a:spcBef>
              <a:buNone/>
              <a:defRPr sz="1600" cap="none" spc="100" baseline="0">
                <a:solidFill>
                  <a:schemeClr val="tx1"/>
                </a:solidFill>
                <a:latin typeface="+mn-lt"/>
              </a:defRPr>
            </a:lvl1pPr>
          </a:lstStyle>
          <a:p>
            <a:pPr lvl="0"/>
            <a:r>
              <a:rPr lang="en-US" dirty="0"/>
              <a:t>Click to add text</a:t>
            </a:r>
          </a:p>
        </p:txBody>
      </p:sp>
      <p:sp>
        <p:nvSpPr>
          <p:cNvPr id="15" name="Date Placeholder 2">
            <a:extLst>
              <a:ext uri="{FF2B5EF4-FFF2-40B4-BE49-F238E27FC236}">
                <a16:creationId xmlns:a16="http://schemas.microsoft.com/office/drawing/2014/main" id="{19507D12-915D-42C7-9250-F3912C1CAEBE}"/>
              </a:ext>
            </a:extLst>
          </p:cNvPr>
          <p:cNvSpPr>
            <a:spLocks noGrp="1"/>
          </p:cNvSpPr>
          <p:nvPr>
            <p:ph type="dt" sz="half" idx="10"/>
          </p:nvPr>
        </p:nvSpPr>
        <p:spPr>
          <a:xfrm>
            <a:off x="838200" y="6356350"/>
            <a:ext cx="2743200" cy="365125"/>
          </a:xfrm>
          <a:prstGeom prst="rect">
            <a:avLst/>
          </a:prstGeom>
        </p:spPr>
        <p:txBody>
          <a:bodyPr/>
          <a:lstStyle>
            <a:lvl1pPr>
              <a:defRPr/>
            </a:lvl1pPr>
          </a:lstStyle>
          <a:p>
            <a:r>
              <a:rPr lang="en-US"/>
              <a:t>20XX</a:t>
            </a:r>
            <a:endParaRPr lang="en-US" dirty="0"/>
          </a:p>
        </p:txBody>
      </p:sp>
      <p:sp>
        <p:nvSpPr>
          <p:cNvPr id="12" name="Footer Placeholder 4">
            <a:extLst>
              <a:ext uri="{FF2B5EF4-FFF2-40B4-BE49-F238E27FC236}">
                <a16:creationId xmlns:a16="http://schemas.microsoft.com/office/drawing/2014/main" id="{14520C17-104B-4F9D-B1D8-2FA4676B3C15}"/>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j-lt"/>
              </a:defRPr>
            </a:lvl1pPr>
          </a:lstStyle>
          <a:p>
            <a:r>
              <a:rPr lang="en-US" dirty="0"/>
              <a:t>Pitch deck</a:t>
            </a:r>
          </a:p>
        </p:txBody>
      </p:sp>
      <p:sp>
        <p:nvSpPr>
          <p:cNvPr id="13" name="Slide Number Placeholder 5">
            <a:extLst>
              <a:ext uri="{FF2B5EF4-FFF2-40B4-BE49-F238E27FC236}">
                <a16:creationId xmlns:a16="http://schemas.microsoft.com/office/drawing/2014/main" id="{219F9CF7-C4CD-4EEB-A49F-1820A981A249}"/>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4689582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About U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1E109A-BBBE-498A-AC65-464AAF5710C4}"/>
              </a:ext>
            </a:extLst>
          </p:cNvPr>
          <p:cNvSpPr>
            <a:spLocks noGrp="1"/>
          </p:cNvSpPr>
          <p:nvPr>
            <p:ph type="title" hasCustomPrompt="1"/>
          </p:nvPr>
        </p:nvSpPr>
        <p:spPr>
          <a:xfrm>
            <a:off x="1526874" y="1329829"/>
            <a:ext cx="2043713" cy="640698"/>
          </a:xfrm>
          <a:prstGeom prst="rect">
            <a:avLst/>
          </a:prstGeom>
          <a:ln w="28575">
            <a:solidFill>
              <a:schemeClr val="accent2"/>
            </a:solidFill>
          </a:ln>
        </p:spPr>
        <p:txBody>
          <a:bodyPr anchor="ctr"/>
          <a:lstStyle>
            <a:lvl1pPr algn="ctr">
              <a:lnSpc>
                <a:spcPct val="100000"/>
              </a:lnSpc>
              <a:defRPr sz="2400" cap="all" spc="100" baseline="0">
                <a:solidFill>
                  <a:schemeClr val="accent2"/>
                </a:solidFill>
              </a:defRPr>
            </a:lvl1pPr>
          </a:lstStyle>
          <a:p>
            <a:r>
              <a:rPr lang="en-US" dirty="0"/>
              <a:t>title</a:t>
            </a:r>
          </a:p>
        </p:txBody>
      </p:sp>
      <p:sp>
        <p:nvSpPr>
          <p:cNvPr id="10" name="Text Placeholder 10">
            <a:extLst>
              <a:ext uri="{FF2B5EF4-FFF2-40B4-BE49-F238E27FC236}">
                <a16:creationId xmlns:a16="http://schemas.microsoft.com/office/drawing/2014/main" id="{7408009F-7441-4960-8688-598E5537784A}"/>
              </a:ext>
            </a:extLst>
          </p:cNvPr>
          <p:cNvSpPr>
            <a:spLocks noGrp="1"/>
          </p:cNvSpPr>
          <p:nvPr>
            <p:ph type="body" sz="quarter" idx="12" hasCustomPrompt="1"/>
          </p:nvPr>
        </p:nvSpPr>
        <p:spPr>
          <a:xfrm>
            <a:off x="4412513" y="808353"/>
            <a:ext cx="6341212" cy="1682433"/>
          </a:xfrm>
          <a:prstGeom prst="rect">
            <a:avLst/>
          </a:prstGeom>
        </p:spPr>
        <p:txBody>
          <a:bodyPr anchor="t"/>
          <a:lstStyle>
            <a:lvl1pPr marL="0" indent="0" algn="l">
              <a:lnSpc>
                <a:spcPct val="125000"/>
              </a:lnSpc>
              <a:spcBef>
                <a:spcPts val="0"/>
              </a:spcBef>
              <a:buNone/>
              <a:defRPr sz="1600" cap="none" spc="100" baseline="0">
                <a:solidFill>
                  <a:schemeClr val="tx1"/>
                </a:solidFill>
                <a:latin typeface="+mn-lt"/>
              </a:defRPr>
            </a:lvl1pPr>
          </a:lstStyle>
          <a:p>
            <a:pPr lvl="0"/>
            <a:r>
              <a:rPr lang="en-US" dirty="0"/>
              <a:t>Click to add text</a:t>
            </a:r>
          </a:p>
        </p:txBody>
      </p:sp>
      <p:sp>
        <p:nvSpPr>
          <p:cNvPr id="8" name="Picture Placeholder 7">
            <a:extLst>
              <a:ext uri="{FF2B5EF4-FFF2-40B4-BE49-F238E27FC236}">
                <a16:creationId xmlns:a16="http://schemas.microsoft.com/office/drawing/2014/main" id="{0721A019-F5C2-4A15-A6AE-C03209D1D7DB}"/>
              </a:ext>
            </a:extLst>
          </p:cNvPr>
          <p:cNvSpPr>
            <a:spLocks noGrp="1"/>
          </p:cNvSpPr>
          <p:nvPr>
            <p:ph type="pic" sz="quarter" idx="10" hasCustomPrompt="1"/>
          </p:nvPr>
        </p:nvSpPr>
        <p:spPr>
          <a:xfrm>
            <a:off x="0" y="3234519"/>
            <a:ext cx="12192000" cy="3623481"/>
          </a:xfrm>
          <a:prstGeom prst="rect">
            <a:avLst/>
          </a:prstGeom>
        </p:spPr>
        <p:txBody>
          <a:bodyPr/>
          <a:lstStyle>
            <a:lvl1pPr marL="0" indent="0" algn="ctr">
              <a:buNone/>
              <a:defRPr/>
            </a:lvl1pPr>
          </a:lstStyle>
          <a:p>
            <a:r>
              <a:rPr lang="en-US" dirty="0"/>
              <a:t>Click to add photo</a:t>
            </a:r>
          </a:p>
        </p:txBody>
      </p:sp>
      <p:sp>
        <p:nvSpPr>
          <p:cNvPr id="11" name="Date Placeholder 3">
            <a:extLst>
              <a:ext uri="{FF2B5EF4-FFF2-40B4-BE49-F238E27FC236}">
                <a16:creationId xmlns:a16="http://schemas.microsoft.com/office/drawing/2014/main" id="{CFE1DF53-32D0-456E-8221-7FCD23325D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defRPr>
            </a:lvl1pPr>
          </a:lstStyle>
          <a:p>
            <a:r>
              <a:rPr lang="en-US"/>
              <a:t>20XX</a:t>
            </a:r>
            <a:endParaRPr lang="en-US" dirty="0"/>
          </a:p>
        </p:txBody>
      </p:sp>
      <p:sp>
        <p:nvSpPr>
          <p:cNvPr id="12" name="Footer Placeholder 4">
            <a:extLst>
              <a:ext uri="{FF2B5EF4-FFF2-40B4-BE49-F238E27FC236}">
                <a16:creationId xmlns:a16="http://schemas.microsoft.com/office/drawing/2014/main" id="{DC108F1B-58C5-43B6-8251-B1392CA9A8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j-lt"/>
              </a:defRPr>
            </a:lvl1pPr>
          </a:lstStyle>
          <a:p>
            <a:r>
              <a:rPr lang="en-US" dirty="0"/>
              <a:t>Pitch deck</a:t>
            </a:r>
          </a:p>
        </p:txBody>
      </p:sp>
      <p:sp>
        <p:nvSpPr>
          <p:cNvPr id="13" name="Slide Number Placeholder 5">
            <a:extLst>
              <a:ext uri="{FF2B5EF4-FFF2-40B4-BE49-F238E27FC236}">
                <a16:creationId xmlns:a16="http://schemas.microsoft.com/office/drawing/2014/main" id="{C530B1E0-03D4-4E5B-A2A7-903B17B306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33730485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Problem">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3FCFFF-5934-4C8D-A4B0-6B19C662D8BA}"/>
              </a:ext>
              <a:ext uri="{C183D7F6-B498-43B3-948B-1728B52AA6E4}">
                <adec:decorative xmlns:adec="http://schemas.microsoft.com/office/drawing/2017/decorative" val="1"/>
              </a:ext>
            </a:extLst>
          </p:cNvPr>
          <p:cNvSpPr/>
          <p:nvPr userDrawn="1"/>
        </p:nvSpPr>
        <p:spPr>
          <a:xfrm>
            <a:off x="0" y="-13651"/>
            <a:ext cx="3701436" cy="6858000"/>
          </a:xfrm>
          <a:prstGeom prst="rect">
            <a:avLst/>
          </a:pr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720FC4D-FDE2-42C3-B907-27B071B649CC}"/>
              </a:ext>
            </a:extLst>
          </p:cNvPr>
          <p:cNvSpPr>
            <a:spLocks noGrp="1"/>
          </p:cNvSpPr>
          <p:nvPr>
            <p:ph type="title" hasCustomPrompt="1"/>
          </p:nvPr>
        </p:nvSpPr>
        <p:spPr>
          <a:xfrm>
            <a:off x="914441" y="1332239"/>
            <a:ext cx="1871580" cy="640698"/>
          </a:xfrm>
          <a:prstGeom prst="rect">
            <a:avLst/>
          </a:prstGeom>
          <a:ln w="28575">
            <a:solidFill>
              <a:schemeClr val="accent2"/>
            </a:solidFill>
          </a:ln>
        </p:spPr>
        <p:txBody>
          <a:bodyPr anchor="ctr"/>
          <a:lstStyle>
            <a:lvl1pPr algn="ctr">
              <a:defRPr sz="2400" cap="all" spc="100" baseline="0">
                <a:solidFill>
                  <a:schemeClr val="accent2"/>
                </a:solidFill>
              </a:defRPr>
            </a:lvl1pPr>
          </a:lstStyle>
          <a:p>
            <a:r>
              <a:rPr lang="en-US" dirty="0"/>
              <a:t>Title</a:t>
            </a:r>
          </a:p>
        </p:txBody>
      </p:sp>
      <p:sp>
        <p:nvSpPr>
          <p:cNvPr id="12" name="Text Placeholder 10">
            <a:extLst>
              <a:ext uri="{FF2B5EF4-FFF2-40B4-BE49-F238E27FC236}">
                <a16:creationId xmlns:a16="http://schemas.microsoft.com/office/drawing/2014/main" id="{97404DC9-3FBE-41B9-946D-9A0D878C2887}"/>
              </a:ext>
            </a:extLst>
          </p:cNvPr>
          <p:cNvSpPr>
            <a:spLocks noGrp="1"/>
          </p:cNvSpPr>
          <p:nvPr>
            <p:ph type="body" sz="quarter" idx="16" hasCustomPrompt="1"/>
          </p:nvPr>
        </p:nvSpPr>
        <p:spPr>
          <a:xfrm>
            <a:off x="4231042" y="652826"/>
            <a:ext cx="3433138" cy="426393"/>
          </a:xfrm>
          <a:prstGeom prst="rect">
            <a:avLst/>
          </a:prstGeom>
        </p:spPr>
        <p:txBody>
          <a:bodyPr anchor="b"/>
          <a:lstStyle>
            <a:lvl1pPr marL="0" indent="0" algn="l">
              <a:buNone/>
              <a:defRPr sz="1800" cap="all" spc="100" baseline="0">
                <a:solidFill>
                  <a:schemeClr val="accent5">
                    <a:lumMod val="50000"/>
                  </a:schemeClr>
                </a:solidFill>
                <a:latin typeface="+mj-lt"/>
              </a:defRPr>
            </a:lvl1pPr>
          </a:lstStyle>
          <a:p>
            <a:pPr lvl="0"/>
            <a:r>
              <a:rPr lang="en-US" dirty="0"/>
              <a:t>Click to add subtitle</a:t>
            </a:r>
          </a:p>
        </p:txBody>
      </p:sp>
      <p:sp>
        <p:nvSpPr>
          <p:cNvPr id="8" name="Text Placeholder 10">
            <a:extLst>
              <a:ext uri="{FF2B5EF4-FFF2-40B4-BE49-F238E27FC236}">
                <a16:creationId xmlns:a16="http://schemas.microsoft.com/office/drawing/2014/main" id="{88BB7876-0125-4084-804C-A842C8558604}"/>
              </a:ext>
            </a:extLst>
          </p:cNvPr>
          <p:cNvSpPr>
            <a:spLocks noGrp="1"/>
          </p:cNvSpPr>
          <p:nvPr>
            <p:ph type="body" sz="quarter" idx="12" hasCustomPrompt="1"/>
          </p:nvPr>
        </p:nvSpPr>
        <p:spPr>
          <a:xfrm>
            <a:off x="4231042" y="1032330"/>
            <a:ext cx="3433138" cy="1370672"/>
          </a:xfrm>
          <a:prstGeom prst="rect">
            <a:avLst/>
          </a:prstGeom>
        </p:spPr>
        <p:txBody>
          <a:bodyPr anchor="t"/>
          <a:lstStyle>
            <a:lvl1pPr marL="0" indent="0" algn="l">
              <a:lnSpc>
                <a:spcPct val="125000"/>
              </a:lnSpc>
              <a:spcBef>
                <a:spcPts val="0"/>
              </a:spcBef>
              <a:buNone/>
              <a:defRPr sz="1600" cap="none" spc="100" baseline="0">
                <a:solidFill>
                  <a:schemeClr val="tx1"/>
                </a:solidFill>
                <a:latin typeface="+mn-lt"/>
              </a:defRPr>
            </a:lvl1pPr>
          </a:lstStyle>
          <a:p>
            <a:pPr lvl="0"/>
            <a:r>
              <a:rPr lang="en-US" dirty="0"/>
              <a:t>Click to add text</a:t>
            </a:r>
          </a:p>
        </p:txBody>
      </p:sp>
      <p:sp>
        <p:nvSpPr>
          <p:cNvPr id="13" name="Text Placeholder 10">
            <a:extLst>
              <a:ext uri="{FF2B5EF4-FFF2-40B4-BE49-F238E27FC236}">
                <a16:creationId xmlns:a16="http://schemas.microsoft.com/office/drawing/2014/main" id="{8645735C-4621-4667-AB52-0391CFBB6B52}"/>
              </a:ext>
            </a:extLst>
          </p:cNvPr>
          <p:cNvSpPr>
            <a:spLocks noGrp="1"/>
          </p:cNvSpPr>
          <p:nvPr>
            <p:ph type="body" sz="quarter" idx="17" hasCustomPrompt="1"/>
          </p:nvPr>
        </p:nvSpPr>
        <p:spPr>
          <a:xfrm>
            <a:off x="8203339" y="652826"/>
            <a:ext cx="3433138" cy="426393"/>
          </a:xfrm>
          <a:prstGeom prst="rect">
            <a:avLst/>
          </a:prstGeom>
        </p:spPr>
        <p:txBody>
          <a:bodyPr anchor="b"/>
          <a:lstStyle>
            <a:lvl1pPr marL="0" indent="0" algn="l">
              <a:buNone/>
              <a:defRPr sz="1800" cap="all" spc="100" baseline="0">
                <a:solidFill>
                  <a:schemeClr val="accent5">
                    <a:lumMod val="50000"/>
                  </a:schemeClr>
                </a:solidFill>
                <a:latin typeface="+mj-lt"/>
              </a:defRPr>
            </a:lvl1pPr>
          </a:lstStyle>
          <a:p>
            <a:pPr lvl="0"/>
            <a:r>
              <a:rPr lang="en-US" dirty="0"/>
              <a:t>Click to add subtitle</a:t>
            </a:r>
          </a:p>
        </p:txBody>
      </p:sp>
      <p:sp>
        <p:nvSpPr>
          <p:cNvPr id="9" name="Text Placeholder 10">
            <a:extLst>
              <a:ext uri="{FF2B5EF4-FFF2-40B4-BE49-F238E27FC236}">
                <a16:creationId xmlns:a16="http://schemas.microsoft.com/office/drawing/2014/main" id="{488BB2B1-07E3-42A2-B3BE-7FC7D7AE158E}"/>
              </a:ext>
            </a:extLst>
          </p:cNvPr>
          <p:cNvSpPr>
            <a:spLocks noGrp="1"/>
          </p:cNvSpPr>
          <p:nvPr>
            <p:ph type="body" sz="quarter" idx="13" hasCustomPrompt="1"/>
          </p:nvPr>
        </p:nvSpPr>
        <p:spPr>
          <a:xfrm>
            <a:off x="8203339" y="1032330"/>
            <a:ext cx="3433138" cy="1370672"/>
          </a:xfrm>
          <a:prstGeom prst="rect">
            <a:avLst/>
          </a:prstGeom>
        </p:spPr>
        <p:txBody>
          <a:bodyPr anchor="t"/>
          <a:lstStyle>
            <a:lvl1pPr marL="0" indent="0" algn="l">
              <a:lnSpc>
                <a:spcPct val="125000"/>
              </a:lnSpc>
              <a:spcBef>
                <a:spcPts val="0"/>
              </a:spcBef>
              <a:buNone/>
              <a:defRPr sz="1600" cap="none" spc="100" baseline="0">
                <a:solidFill>
                  <a:schemeClr val="tx1"/>
                </a:solidFill>
                <a:latin typeface="+mn-lt"/>
              </a:defRPr>
            </a:lvl1pPr>
          </a:lstStyle>
          <a:p>
            <a:pPr lvl="0"/>
            <a:r>
              <a:rPr lang="en-US" dirty="0"/>
              <a:t>Click to add text</a:t>
            </a:r>
          </a:p>
        </p:txBody>
      </p:sp>
      <p:sp>
        <p:nvSpPr>
          <p:cNvPr id="15" name="Text Placeholder 10">
            <a:extLst>
              <a:ext uri="{FF2B5EF4-FFF2-40B4-BE49-F238E27FC236}">
                <a16:creationId xmlns:a16="http://schemas.microsoft.com/office/drawing/2014/main" id="{02C103C8-E422-4DEB-9077-DC11E0080569}"/>
              </a:ext>
            </a:extLst>
          </p:cNvPr>
          <p:cNvSpPr>
            <a:spLocks noGrp="1"/>
          </p:cNvSpPr>
          <p:nvPr>
            <p:ph type="body" sz="quarter" idx="19" hasCustomPrompt="1"/>
          </p:nvPr>
        </p:nvSpPr>
        <p:spPr>
          <a:xfrm>
            <a:off x="4231042" y="2620561"/>
            <a:ext cx="3433138" cy="428891"/>
          </a:xfrm>
          <a:prstGeom prst="rect">
            <a:avLst/>
          </a:prstGeom>
        </p:spPr>
        <p:txBody>
          <a:bodyPr anchor="b"/>
          <a:lstStyle>
            <a:lvl1pPr marL="0" indent="0" algn="l">
              <a:buNone/>
              <a:defRPr sz="1800" cap="all" spc="100" baseline="0">
                <a:solidFill>
                  <a:schemeClr val="accent5">
                    <a:lumMod val="50000"/>
                  </a:schemeClr>
                </a:solidFill>
                <a:latin typeface="+mj-lt"/>
              </a:defRPr>
            </a:lvl1pPr>
          </a:lstStyle>
          <a:p>
            <a:pPr lvl="0"/>
            <a:r>
              <a:rPr lang="en-US" dirty="0"/>
              <a:t>Click to add subtitle</a:t>
            </a:r>
          </a:p>
        </p:txBody>
      </p:sp>
      <p:sp>
        <p:nvSpPr>
          <p:cNvPr id="23" name="Text Placeholder 10">
            <a:extLst>
              <a:ext uri="{FF2B5EF4-FFF2-40B4-BE49-F238E27FC236}">
                <a16:creationId xmlns:a16="http://schemas.microsoft.com/office/drawing/2014/main" id="{FA80948A-8FCC-4BE4-A5F7-20802B176305}"/>
              </a:ext>
            </a:extLst>
          </p:cNvPr>
          <p:cNvSpPr>
            <a:spLocks noGrp="1"/>
          </p:cNvSpPr>
          <p:nvPr>
            <p:ph type="body" sz="quarter" idx="23" hasCustomPrompt="1"/>
          </p:nvPr>
        </p:nvSpPr>
        <p:spPr>
          <a:xfrm>
            <a:off x="4231042" y="3002562"/>
            <a:ext cx="3433138" cy="961350"/>
          </a:xfrm>
          <a:prstGeom prst="rect">
            <a:avLst/>
          </a:prstGeom>
        </p:spPr>
        <p:txBody>
          <a:bodyPr anchor="t"/>
          <a:lstStyle>
            <a:lvl1pPr marL="0" indent="0" algn="l">
              <a:lnSpc>
                <a:spcPct val="125000"/>
              </a:lnSpc>
              <a:spcBef>
                <a:spcPts val="0"/>
              </a:spcBef>
              <a:buNone/>
              <a:defRPr sz="1600" cap="none" spc="100" baseline="0">
                <a:solidFill>
                  <a:schemeClr val="tx1"/>
                </a:solidFill>
                <a:latin typeface="+mn-lt"/>
              </a:defRPr>
            </a:lvl1pPr>
          </a:lstStyle>
          <a:p>
            <a:pPr lvl="0"/>
            <a:r>
              <a:rPr lang="en-US" dirty="0"/>
              <a:t>Click to add text</a:t>
            </a:r>
          </a:p>
        </p:txBody>
      </p:sp>
      <p:sp>
        <p:nvSpPr>
          <p:cNvPr id="20" name="Text Placeholder 10">
            <a:extLst>
              <a:ext uri="{FF2B5EF4-FFF2-40B4-BE49-F238E27FC236}">
                <a16:creationId xmlns:a16="http://schemas.microsoft.com/office/drawing/2014/main" id="{4744F88B-3CB7-4A2B-B718-EEB4E061A79F}"/>
              </a:ext>
            </a:extLst>
          </p:cNvPr>
          <p:cNvSpPr>
            <a:spLocks noGrp="1"/>
          </p:cNvSpPr>
          <p:nvPr>
            <p:ph type="body" sz="quarter" idx="21" hasCustomPrompt="1"/>
          </p:nvPr>
        </p:nvSpPr>
        <p:spPr>
          <a:xfrm>
            <a:off x="8203339" y="2620561"/>
            <a:ext cx="3433138" cy="428891"/>
          </a:xfrm>
          <a:prstGeom prst="rect">
            <a:avLst/>
          </a:prstGeom>
        </p:spPr>
        <p:txBody>
          <a:bodyPr anchor="b"/>
          <a:lstStyle>
            <a:lvl1pPr marL="0" indent="0" algn="l">
              <a:buNone/>
              <a:defRPr sz="1800" cap="all" spc="100" baseline="0">
                <a:solidFill>
                  <a:schemeClr val="accent5">
                    <a:lumMod val="50000"/>
                  </a:schemeClr>
                </a:solidFill>
                <a:latin typeface="+mj-lt"/>
              </a:defRPr>
            </a:lvl1pPr>
          </a:lstStyle>
          <a:p>
            <a:pPr lvl="0"/>
            <a:r>
              <a:rPr lang="en-US" dirty="0"/>
              <a:t>Click to add subtitle</a:t>
            </a:r>
          </a:p>
        </p:txBody>
      </p:sp>
      <p:sp>
        <p:nvSpPr>
          <p:cNvPr id="22" name="Text Placeholder 10">
            <a:extLst>
              <a:ext uri="{FF2B5EF4-FFF2-40B4-BE49-F238E27FC236}">
                <a16:creationId xmlns:a16="http://schemas.microsoft.com/office/drawing/2014/main" id="{7343EDF6-C2D8-47E1-856B-6329A7CE07E4}"/>
              </a:ext>
            </a:extLst>
          </p:cNvPr>
          <p:cNvSpPr>
            <a:spLocks noGrp="1"/>
          </p:cNvSpPr>
          <p:nvPr>
            <p:ph type="body" sz="quarter" idx="22" hasCustomPrompt="1"/>
          </p:nvPr>
        </p:nvSpPr>
        <p:spPr>
          <a:xfrm>
            <a:off x="8203339" y="3002562"/>
            <a:ext cx="3433138" cy="961350"/>
          </a:xfrm>
          <a:prstGeom prst="rect">
            <a:avLst/>
          </a:prstGeom>
        </p:spPr>
        <p:txBody>
          <a:bodyPr anchor="t"/>
          <a:lstStyle>
            <a:lvl1pPr marL="0" indent="0" algn="l">
              <a:lnSpc>
                <a:spcPct val="125000"/>
              </a:lnSpc>
              <a:spcBef>
                <a:spcPts val="0"/>
              </a:spcBef>
              <a:buNone/>
              <a:defRPr sz="1600" cap="none" spc="100" baseline="0">
                <a:solidFill>
                  <a:schemeClr val="tx1"/>
                </a:solidFill>
                <a:latin typeface="+mn-lt"/>
              </a:defRPr>
            </a:lvl1pPr>
          </a:lstStyle>
          <a:p>
            <a:pPr lvl="0"/>
            <a:r>
              <a:rPr lang="en-US" dirty="0"/>
              <a:t>Click to add text</a:t>
            </a:r>
          </a:p>
        </p:txBody>
      </p:sp>
      <p:sp>
        <p:nvSpPr>
          <p:cNvPr id="14" name="Text Placeholder 10">
            <a:extLst>
              <a:ext uri="{FF2B5EF4-FFF2-40B4-BE49-F238E27FC236}">
                <a16:creationId xmlns:a16="http://schemas.microsoft.com/office/drawing/2014/main" id="{AC6352A5-5003-4E32-B8FF-A84B4A4AC3AA}"/>
              </a:ext>
            </a:extLst>
          </p:cNvPr>
          <p:cNvSpPr>
            <a:spLocks noGrp="1"/>
          </p:cNvSpPr>
          <p:nvPr>
            <p:ph type="body" sz="quarter" idx="18" hasCustomPrompt="1"/>
          </p:nvPr>
        </p:nvSpPr>
        <p:spPr>
          <a:xfrm>
            <a:off x="4231042" y="4147932"/>
            <a:ext cx="3433138" cy="428891"/>
          </a:xfrm>
          <a:prstGeom prst="rect">
            <a:avLst/>
          </a:prstGeom>
        </p:spPr>
        <p:txBody>
          <a:bodyPr anchor="b"/>
          <a:lstStyle>
            <a:lvl1pPr marL="0" indent="0" algn="l">
              <a:buNone/>
              <a:defRPr sz="1800" cap="all" spc="100" baseline="0">
                <a:solidFill>
                  <a:schemeClr val="accent5">
                    <a:lumMod val="50000"/>
                  </a:schemeClr>
                </a:solidFill>
                <a:latin typeface="+mj-lt"/>
              </a:defRPr>
            </a:lvl1pPr>
          </a:lstStyle>
          <a:p>
            <a:pPr lvl="0"/>
            <a:r>
              <a:rPr lang="en-US" dirty="0"/>
              <a:t>Click to add subtitle</a:t>
            </a:r>
          </a:p>
        </p:txBody>
      </p:sp>
      <p:sp>
        <p:nvSpPr>
          <p:cNvPr id="24" name="Text Placeholder 10">
            <a:extLst>
              <a:ext uri="{FF2B5EF4-FFF2-40B4-BE49-F238E27FC236}">
                <a16:creationId xmlns:a16="http://schemas.microsoft.com/office/drawing/2014/main" id="{CC2603EF-30BF-4C6C-BA93-E99C72480916}"/>
              </a:ext>
            </a:extLst>
          </p:cNvPr>
          <p:cNvSpPr>
            <a:spLocks noGrp="1"/>
          </p:cNvSpPr>
          <p:nvPr>
            <p:ph type="body" sz="quarter" idx="24" hasCustomPrompt="1"/>
          </p:nvPr>
        </p:nvSpPr>
        <p:spPr>
          <a:xfrm>
            <a:off x="4231042" y="4529933"/>
            <a:ext cx="3433138" cy="1450988"/>
          </a:xfrm>
          <a:prstGeom prst="rect">
            <a:avLst/>
          </a:prstGeom>
        </p:spPr>
        <p:txBody>
          <a:bodyPr anchor="t"/>
          <a:lstStyle>
            <a:lvl1pPr marL="0" indent="0" algn="l">
              <a:lnSpc>
                <a:spcPct val="125000"/>
              </a:lnSpc>
              <a:spcBef>
                <a:spcPts val="0"/>
              </a:spcBef>
              <a:buNone/>
              <a:defRPr sz="1600" cap="none" spc="100" baseline="0">
                <a:solidFill>
                  <a:schemeClr val="tx1"/>
                </a:solidFill>
                <a:latin typeface="+mn-lt"/>
              </a:defRPr>
            </a:lvl1pPr>
          </a:lstStyle>
          <a:p>
            <a:pPr lvl="0"/>
            <a:r>
              <a:rPr lang="en-US" dirty="0"/>
              <a:t>Click to add text</a:t>
            </a:r>
          </a:p>
        </p:txBody>
      </p:sp>
      <p:sp>
        <p:nvSpPr>
          <p:cNvPr id="16" name="Date Placeholder 3">
            <a:extLst>
              <a:ext uri="{FF2B5EF4-FFF2-40B4-BE49-F238E27FC236}">
                <a16:creationId xmlns:a16="http://schemas.microsoft.com/office/drawing/2014/main" id="{D38E30C9-543F-4532-B571-2F2EF52E7A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a:t>20XX</a:t>
            </a:r>
            <a:endParaRPr lang="en-US" dirty="0"/>
          </a:p>
        </p:txBody>
      </p:sp>
      <p:sp>
        <p:nvSpPr>
          <p:cNvPr id="17" name="Footer Placeholder 4">
            <a:extLst>
              <a:ext uri="{FF2B5EF4-FFF2-40B4-BE49-F238E27FC236}">
                <a16:creationId xmlns:a16="http://schemas.microsoft.com/office/drawing/2014/main" id="{9E2F8B6B-A63E-448F-86E5-CF3F12A297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18" name="Slide Number Placeholder 5">
            <a:extLst>
              <a:ext uri="{FF2B5EF4-FFF2-40B4-BE49-F238E27FC236}">
                <a16:creationId xmlns:a16="http://schemas.microsoft.com/office/drawing/2014/main" id="{5EC1D779-DE8A-45DF-9A79-70F63DD68B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48287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07C99-0702-4DEF-A72F-2451B3DC6D0C}"/>
              </a:ext>
            </a:extLst>
          </p:cNvPr>
          <p:cNvSpPr>
            <a:spLocks noGrp="1"/>
          </p:cNvSpPr>
          <p:nvPr>
            <p:ph type="title" hasCustomPrompt="1"/>
          </p:nvPr>
        </p:nvSpPr>
        <p:spPr>
          <a:xfrm>
            <a:off x="1186544" y="-1"/>
            <a:ext cx="3944790" cy="1845127"/>
          </a:xfrm>
          <a:prstGeom prst="rect">
            <a:avLst/>
          </a:prstGeom>
        </p:spPr>
        <p:txBody>
          <a:bodyPr anchor="ctr"/>
          <a:lstStyle>
            <a:lvl1pPr algn="r">
              <a:defRPr sz="2400" cap="all" spc="100" baseline="0">
                <a:solidFill>
                  <a:schemeClr val="accent2"/>
                </a:solidFill>
              </a:defRPr>
            </a:lvl1pPr>
          </a:lstStyle>
          <a:p>
            <a:r>
              <a:rPr lang="en-US" dirty="0"/>
              <a:t>Click to add title</a:t>
            </a:r>
          </a:p>
        </p:txBody>
      </p:sp>
      <p:sp>
        <p:nvSpPr>
          <p:cNvPr id="6" name="Picture Placeholder 7">
            <a:extLst>
              <a:ext uri="{FF2B5EF4-FFF2-40B4-BE49-F238E27FC236}">
                <a16:creationId xmlns:a16="http://schemas.microsoft.com/office/drawing/2014/main" id="{74497024-D7D5-447C-8133-660B1F47A190}"/>
              </a:ext>
            </a:extLst>
          </p:cNvPr>
          <p:cNvSpPr>
            <a:spLocks noGrp="1"/>
          </p:cNvSpPr>
          <p:nvPr>
            <p:ph type="pic" sz="quarter" idx="13" hasCustomPrompt="1"/>
          </p:nvPr>
        </p:nvSpPr>
        <p:spPr>
          <a:xfrm>
            <a:off x="0" y="1845128"/>
            <a:ext cx="12192000" cy="5012871"/>
          </a:xfrm>
          <a:prstGeom prst="rect">
            <a:avLst/>
          </a:prstGeom>
        </p:spPr>
        <p:txBody>
          <a:bodyPr/>
          <a:lstStyle>
            <a:lvl1pPr marL="0" indent="0" algn="l">
              <a:buNone/>
              <a:defRPr/>
            </a:lvl1pPr>
          </a:lstStyle>
          <a:p>
            <a:r>
              <a:rPr lang="en-US" dirty="0"/>
              <a:t>Click to add photo</a:t>
            </a:r>
          </a:p>
        </p:txBody>
      </p:sp>
      <p:sp>
        <p:nvSpPr>
          <p:cNvPr id="3" name="Date Placeholder 2">
            <a:extLst>
              <a:ext uri="{FF2B5EF4-FFF2-40B4-BE49-F238E27FC236}">
                <a16:creationId xmlns:a16="http://schemas.microsoft.com/office/drawing/2014/main" id="{AAE88F42-9013-4CBC-BF65-3FE1470550BE}"/>
              </a:ext>
            </a:extLst>
          </p:cNvPr>
          <p:cNvSpPr>
            <a:spLocks noGrp="1"/>
          </p:cNvSpPr>
          <p:nvPr>
            <p:ph type="dt" sz="half" idx="10"/>
          </p:nvPr>
        </p:nvSpPr>
        <p:spPr>
          <a:xfrm>
            <a:off x="838200" y="6356350"/>
            <a:ext cx="2743200" cy="365125"/>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r>
              <a:rPr lang="en-US"/>
              <a:t>20XX</a:t>
            </a:r>
            <a:endParaRPr lang="en-US" dirty="0"/>
          </a:p>
        </p:txBody>
      </p:sp>
      <p:sp>
        <p:nvSpPr>
          <p:cNvPr id="8" name="Text Placeholder 10">
            <a:extLst>
              <a:ext uri="{FF2B5EF4-FFF2-40B4-BE49-F238E27FC236}">
                <a16:creationId xmlns:a16="http://schemas.microsoft.com/office/drawing/2014/main" id="{91F54EB4-06CA-459B-8F8C-86061BA6F1B2}"/>
              </a:ext>
            </a:extLst>
          </p:cNvPr>
          <p:cNvSpPr>
            <a:spLocks noGrp="1"/>
          </p:cNvSpPr>
          <p:nvPr>
            <p:ph type="body" sz="quarter" idx="16" hasCustomPrompt="1"/>
          </p:nvPr>
        </p:nvSpPr>
        <p:spPr>
          <a:xfrm>
            <a:off x="5627913" y="0"/>
            <a:ext cx="6564087" cy="3614737"/>
          </a:xfrm>
          <a:prstGeom prst="rect">
            <a:avLst/>
          </a:prstGeom>
          <a:solidFill>
            <a:schemeClr val="accent2">
              <a:alpha val="92000"/>
            </a:schemeClr>
          </a:solidFill>
        </p:spPr>
        <p:txBody>
          <a:bodyPr lIns="640080" tIns="731520" rIns="548640" anchor="t"/>
          <a:lstStyle>
            <a:lvl1pPr marL="0" indent="0" algn="l">
              <a:lnSpc>
                <a:spcPct val="125000"/>
              </a:lnSpc>
              <a:spcBef>
                <a:spcPts val="0"/>
              </a:spcBef>
              <a:buNone/>
              <a:defRPr sz="1600" cap="none" spc="100" baseline="0">
                <a:solidFill>
                  <a:schemeClr val="bg1"/>
                </a:solidFill>
                <a:latin typeface="+mn-lt"/>
              </a:defRPr>
            </a:lvl1pPr>
          </a:lstStyle>
          <a:p>
            <a:pPr lvl="0"/>
            <a:r>
              <a:rPr lang="en-US" dirty="0"/>
              <a:t>Click to add subtitle</a:t>
            </a:r>
          </a:p>
        </p:txBody>
      </p:sp>
      <p:sp>
        <p:nvSpPr>
          <p:cNvPr id="4" name="Footer Placeholder 3">
            <a:extLst>
              <a:ext uri="{FF2B5EF4-FFF2-40B4-BE49-F238E27FC236}">
                <a16:creationId xmlns:a16="http://schemas.microsoft.com/office/drawing/2014/main" id="{9322B1A3-ADD1-4AAF-A733-AF9AEAB499A8}"/>
              </a:ext>
            </a:extLst>
          </p:cNvPr>
          <p:cNvSpPr>
            <a:spLocks noGrp="1"/>
          </p:cNvSpPr>
          <p:nvPr>
            <p:ph type="ftr" sz="quarter" idx="11"/>
          </p:nvPr>
        </p:nvSpPr>
        <p:spPr>
          <a:xfrm>
            <a:off x="4038600" y="6356350"/>
            <a:ext cx="4114800" cy="365125"/>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r>
              <a:rPr lang="en-US" dirty="0"/>
              <a:t>Pitch deck</a:t>
            </a:r>
          </a:p>
        </p:txBody>
      </p:sp>
      <p:sp>
        <p:nvSpPr>
          <p:cNvPr id="5" name="Slide Number Placeholder 4">
            <a:extLst>
              <a:ext uri="{FF2B5EF4-FFF2-40B4-BE49-F238E27FC236}">
                <a16:creationId xmlns:a16="http://schemas.microsoft.com/office/drawing/2014/main" id="{68AE2F48-AB83-42F0-93C2-9F943F0B00C0}"/>
              </a:ext>
            </a:extLst>
          </p:cNvPr>
          <p:cNvSpPr>
            <a:spLocks noGrp="1"/>
          </p:cNvSpPr>
          <p:nvPr>
            <p:ph type="sldNum" sz="quarter" idx="12"/>
          </p:nvPr>
        </p:nvSpPr>
        <p:spPr>
          <a:xfrm>
            <a:off x="8610600" y="6356350"/>
            <a:ext cx="2743200" cy="365125"/>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3861805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Financia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96D4A-16D3-4C35-A383-2DF039D54CF4}"/>
              </a:ext>
            </a:extLst>
          </p:cNvPr>
          <p:cNvSpPr>
            <a:spLocks noGrp="1"/>
          </p:cNvSpPr>
          <p:nvPr>
            <p:ph type="title" hasCustomPrompt="1"/>
          </p:nvPr>
        </p:nvSpPr>
        <p:spPr>
          <a:xfrm>
            <a:off x="819728" y="317739"/>
            <a:ext cx="4114800" cy="623923"/>
          </a:xfrm>
          <a:prstGeom prst="rect">
            <a:avLst/>
          </a:prstGeom>
        </p:spPr>
        <p:txBody>
          <a:bodyPr anchor="ctr"/>
          <a:lstStyle>
            <a:lvl1pPr>
              <a:defRPr sz="2400" cap="all" spc="100" baseline="0">
                <a:solidFill>
                  <a:schemeClr val="tx2"/>
                </a:solidFill>
              </a:defRPr>
            </a:lvl1pPr>
          </a:lstStyle>
          <a:p>
            <a:r>
              <a:rPr lang="en-US" dirty="0"/>
              <a:t>Click to add title</a:t>
            </a:r>
          </a:p>
        </p:txBody>
      </p:sp>
      <p:sp>
        <p:nvSpPr>
          <p:cNvPr id="10" name="Content Placeholder 9">
            <a:extLst>
              <a:ext uri="{FF2B5EF4-FFF2-40B4-BE49-F238E27FC236}">
                <a16:creationId xmlns:a16="http://schemas.microsoft.com/office/drawing/2014/main" id="{FF255611-8280-41F3-A5FA-821E144AEAE7}"/>
              </a:ext>
            </a:extLst>
          </p:cNvPr>
          <p:cNvSpPr>
            <a:spLocks noGrp="1"/>
          </p:cNvSpPr>
          <p:nvPr>
            <p:ph sz="quarter" idx="15" hasCustomPrompt="1"/>
          </p:nvPr>
        </p:nvSpPr>
        <p:spPr>
          <a:xfrm>
            <a:off x="914400" y="905856"/>
            <a:ext cx="5759450" cy="5047269"/>
          </a:xfrm>
          <a:prstGeom prst="rect">
            <a:avLst/>
          </a:prstGeom>
        </p:spPr>
        <p:txBody>
          <a:bodyPr/>
          <a:lstStyle>
            <a:lvl1pPr marL="0" indent="0">
              <a:buNone/>
              <a:defRPr sz="1800" cap="all" baseline="0">
                <a:solidFill>
                  <a:schemeClr val="accent5">
                    <a:lumMod val="50000"/>
                  </a:schemeClr>
                </a:solidFill>
              </a:defRPr>
            </a:lvl1pPr>
            <a:lvl2pPr marL="457200" indent="0">
              <a:buNone/>
              <a:defRPr sz="1600" cap="all" baseline="0">
                <a:solidFill>
                  <a:schemeClr val="accent5">
                    <a:lumMod val="50000"/>
                  </a:schemeClr>
                </a:solidFill>
              </a:defRPr>
            </a:lvl2pPr>
            <a:lvl3pPr marL="914400" indent="0">
              <a:buNone/>
              <a:defRPr sz="1400" cap="all" baseline="0">
                <a:solidFill>
                  <a:schemeClr val="accent5">
                    <a:lumMod val="50000"/>
                  </a:schemeClr>
                </a:solidFill>
              </a:defRPr>
            </a:lvl3pPr>
            <a:lvl4pPr marL="1371600" indent="0">
              <a:buNone/>
              <a:defRPr sz="1200" cap="all" baseline="0">
                <a:solidFill>
                  <a:schemeClr val="accent5">
                    <a:lumMod val="50000"/>
                  </a:schemeClr>
                </a:solidFill>
              </a:defRPr>
            </a:lvl4pPr>
            <a:lvl5pPr marL="1828800" indent="0">
              <a:buNone/>
              <a:defRPr sz="1200" cap="all" baseline="0">
                <a:solidFill>
                  <a:schemeClr val="accent5">
                    <a:lumMod val="50000"/>
                  </a:schemeClr>
                </a:solidFill>
              </a:defRPr>
            </a:lvl5pPr>
          </a:lstStyle>
          <a:p>
            <a:pPr lvl="0"/>
            <a:r>
              <a:rPr lang="en-US" dirty="0"/>
              <a:t>Click to add content</a:t>
            </a:r>
          </a:p>
        </p:txBody>
      </p:sp>
      <p:sp>
        <p:nvSpPr>
          <p:cNvPr id="3" name="Date Placeholder 2">
            <a:extLst>
              <a:ext uri="{FF2B5EF4-FFF2-40B4-BE49-F238E27FC236}">
                <a16:creationId xmlns:a16="http://schemas.microsoft.com/office/drawing/2014/main" id="{33453DB9-3C4B-4136-96D2-08A7D5AD418F}"/>
              </a:ext>
            </a:extLst>
          </p:cNvPr>
          <p:cNvSpPr>
            <a:spLocks noGrp="1"/>
          </p:cNvSpPr>
          <p:nvPr>
            <p:ph type="dt" sz="half" idx="10"/>
          </p:nvPr>
        </p:nvSpPr>
        <p:spPr>
          <a:xfrm>
            <a:off x="838200" y="6356350"/>
            <a:ext cx="2743200" cy="365125"/>
          </a:xfrm>
          <a:prstGeom prst="rect">
            <a:avLst/>
          </a:prstGeom>
        </p:spPr>
        <p:txBody>
          <a:bodyPr/>
          <a:lstStyle/>
          <a:p>
            <a:r>
              <a:rPr lang="en-US"/>
              <a:t>20XX</a:t>
            </a:r>
            <a:endParaRPr lang="en-US" dirty="0"/>
          </a:p>
        </p:txBody>
      </p:sp>
      <p:sp>
        <p:nvSpPr>
          <p:cNvPr id="4" name="Footer Placeholder 3">
            <a:extLst>
              <a:ext uri="{FF2B5EF4-FFF2-40B4-BE49-F238E27FC236}">
                <a16:creationId xmlns:a16="http://schemas.microsoft.com/office/drawing/2014/main" id="{81464841-801A-499A-BFD2-9731D2D89C25}"/>
              </a:ext>
            </a:extLst>
          </p:cNvPr>
          <p:cNvSpPr>
            <a:spLocks noGrp="1"/>
          </p:cNvSpPr>
          <p:nvPr>
            <p:ph type="ftr" sz="quarter" idx="11"/>
          </p:nvPr>
        </p:nvSpPr>
        <p:spPr>
          <a:xfrm>
            <a:off x="4038600" y="6356350"/>
            <a:ext cx="4114800" cy="365125"/>
          </a:xfrm>
          <a:prstGeom prst="rect">
            <a:avLst/>
          </a:prstGeom>
        </p:spPr>
        <p:txBody>
          <a:bodyPr/>
          <a:lstStyle/>
          <a:p>
            <a:r>
              <a:rPr lang="en-US" dirty="0"/>
              <a:t>Pitch deck</a:t>
            </a:r>
          </a:p>
        </p:txBody>
      </p:sp>
      <p:sp>
        <p:nvSpPr>
          <p:cNvPr id="8" name="Picture Placeholder 8">
            <a:extLst>
              <a:ext uri="{FF2B5EF4-FFF2-40B4-BE49-F238E27FC236}">
                <a16:creationId xmlns:a16="http://schemas.microsoft.com/office/drawing/2014/main" id="{A6BF61C1-4A8C-44D4-901D-E065B7B42A25}"/>
              </a:ext>
            </a:extLst>
          </p:cNvPr>
          <p:cNvSpPr>
            <a:spLocks noGrp="1"/>
          </p:cNvSpPr>
          <p:nvPr>
            <p:ph type="pic" sz="quarter" idx="14" hasCustomPrompt="1"/>
          </p:nvPr>
        </p:nvSpPr>
        <p:spPr>
          <a:xfrm>
            <a:off x="7598229" y="0"/>
            <a:ext cx="4593770" cy="6858000"/>
          </a:xfrm>
          <a:prstGeom prst="rect">
            <a:avLst/>
          </a:prstGeom>
        </p:spPr>
        <p:txBody>
          <a:bodyPr/>
          <a:lstStyle>
            <a:lvl1pPr marL="0" indent="0" algn="ctr">
              <a:buNone/>
              <a:defRPr/>
            </a:lvl1pPr>
          </a:lstStyle>
          <a:p>
            <a:r>
              <a:rPr lang="en-US" dirty="0"/>
              <a:t>Click to add photo</a:t>
            </a:r>
          </a:p>
        </p:txBody>
      </p:sp>
      <p:sp>
        <p:nvSpPr>
          <p:cNvPr id="5" name="Slide Number Placeholder 4">
            <a:extLst>
              <a:ext uri="{FF2B5EF4-FFF2-40B4-BE49-F238E27FC236}">
                <a16:creationId xmlns:a16="http://schemas.microsoft.com/office/drawing/2014/main" id="{F9C78F9D-CD73-4D53-A871-D6C0B643A68D}"/>
              </a:ext>
            </a:extLst>
          </p:cNvPr>
          <p:cNvSpPr>
            <a:spLocks noGrp="1"/>
          </p:cNvSpPr>
          <p:nvPr>
            <p:ph type="sldNum" sz="quarter" idx="12"/>
          </p:nvPr>
        </p:nvSpPr>
        <p:spPr>
          <a:xfrm>
            <a:off x="8610600" y="6356350"/>
            <a:ext cx="2743200" cy="365125"/>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42265057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Market Opportunity Overvi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78E2C-0F13-417A-AD7A-E478D5C3BD4C}"/>
              </a:ext>
            </a:extLst>
          </p:cNvPr>
          <p:cNvSpPr>
            <a:spLocks noGrp="1"/>
          </p:cNvSpPr>
          <p:nvPr>
            <p:ph type="title" hasCustomPrompt="1"/>
          </p:nvPr>
        </p:nvSpPr>
        <p:spPr>
          <a:xfrm>
            <a:off x="808382" y="422661"/>
            <a:ext cx="5200532" cy="720399"/>
          </a:xfrm>
          <a:prstGeom prst="rect">
            <a:avLst/>
          </a:prstGeom>
        </p:spPr>
        <p:txBody>
          <a:bodyPr anchor="ctr"/>
          <a:lstStyle>
            <a:lvl1pPr algn="l">
              <a:defRPr sz="2400" cap="all" spc="100" baseline="0">
                <a:solidFill>
                  <a:schemeClr val="accent2"/>
                </a:solidFill>
              </a:defRPr>
            </a:lvl1pPr>
          </a:lstStyle>
          <a:p>
            <a:r>
              <a:rPr lang="en-US" dirty="0"/>
              <a:t>Click to add title</a:t>
            </a:r>
          </a:p>
        </p:txBody>
      </p:sp>
      <p:sp>
        <p:nvSpPr>
          <p:cNvPr id="15" name="Text Placeholder 10">
            <a:extLst>
              <a:ext uri="{FF2B5EF4-FFF2-40B4-BE49-F238E27FC236}">
                <a16:creationId xmlns:a16="http://schemas.microsoft.com/office/drawing/2014/main" id="{30892B14-4811-4781-A0D4-2D26A55DFF2F}"/>
              </a:ext>
            </a:extLst>
          </p:cNvPr>
          <p:cNvSpPr>
            <a:spLocks noGrp="1"/>
          </p:cNvSpPr>
          <p:nvPr>
            <p:ph type="body" sz="quarter" idx="16" hasCustomPrompt="1"/>
          </p:nvPr>
        </p:nvSpPr>
        <p:spPr>
          <a:xfrm>
            <a:off x="920003" y="1617548"/>
            <a:ext cx="876929" cy="720399"/>
          </a:xfrm>
          <a:prstGeom prst="rect">
            <a:avLst/>
          </a:prstGeom>
          <a:ln w="28575">
            <a:solidFill>
              <a:schemeClr val="accent4"/>
            </a:solidFill>
          </a:ln>
        </p:spPr>
        <p:txBody>
          <a:bodyPr lIns="0" tIns="0" rIns="0" bIns="0" anchor="ctr"/>
          <a:lstStyle>
            <a:lvl1pPr marL="0" indent="0" algn="ctr">
              <a:lnSpc>
                <a:spcPct val="100000"/>
              </a:lnSpc>
              <a:spcBef>
                <a:spcPts val="0"/>
              </a:spcBef>
              <a:buNone/>
              <a:defRPr sz="2400" cap="all" spc="100" baseline="0">
                <a:solidFill>
                  <a:schemeClr val="accent5">
                    <a:lumMod val="50000"/>
                  </a:schemeClr>
                </a:solidFill>
                <a:latin typeface="+mj-lt"/>
              </a:defRPr>
            </a:lvl1pPr>
          </a:lstStyle>
          <a:p>
            <a:pPr lvl="0"/>
            <a:r>
              <a:rPr lang="en-US" dirty="0"/>
              <a:t>text</a:t>
            </a:r>
          </a:p>
        </p:txBody>
      </p:sp>
      <p:sp>
        <p:nvSpPr>
          <p:cNvPr id="22" name="Text Placeholder 10">
            <a:extLst>
              <a:ext uri="{FF2B5EF4-FFF2-40B4-BE49-F238E27FC236}">
                <a16:creationId xmlns:a16="http://schemas.microsoft.com/office/drawing/2014/main" id="{950B6E72-89BA-408A-B2C8-8424747605D1}"/>
              </a:ext>
            </a:extLst>
          </p:cNvPr>
          <p:cNvSpPr>
            <a:spLocks noGrp="1"/>
          </p:cNvSpPr>
          <p:nvPr>
            <p:ph type="body" sz="quarter" idx="18" hasCustomPrompt="1"/>
          </p:nvPr>
        </p:nvSpPr>
        <p:spPr>
          <a:xfrm>
            <a:off x="920003" y="3180036"/>
            <a:ext cx="876930" cy="720400"/>
          </a:xfrm>
          <a:prstGeom prst="rect">
            <a:avLst/>
          </a:prstGeom>
          <a:ln w="28575">
            <a:solidFill>
              <a:schemeClr val="accent4"/>
            </a:solidFill>
          </a:ln>
        </p:spPr>
        <p:txBody>
          <a:bodyPr lIns="0" tIns="0" rIns="0" bIns="0" anchor="ctr"/>
          <a:lstStyle>
            <a:lvl1pPr marL="0" indent="0" algn="ctr">
              <a:lnSpc>
                <a:spcPct val="100000"/>
              </a:lnSpc>
              <a:spcBef>
                <a:spcPts val="0"/>
              </a:spcBef>
              <a:buNone/>
              <a:defRPr sz="2400" cap="all" spc="100" baseline="0">
                <a:solidFill>
                  <a:schemeClr val="accent5">
                    <a:lumMod val="50000"/>
                  </a:schemeClr>
                </a:solidFill>
                <a:latin typeface="+mj-lt"/>
              </a:defRPr>
            </a:lvl1pPr>
          </a:lstStyle>
          <a:p>
            <a:pPr lvl="0"/>
            <a:r>
              <a:rPr lang="en-US" dirty="0"/>
              <a:t>text</a:t>
            </a:r>
          </a:p>
        </p:txBody>
      </p:sp>
      <p:sp>
        <p:nvSpPr>
          <p:cNvPr id="24" name="Text Placeholder 10">
            <a:extLst>
              <a:ext uri="{FF2B5EF4-FFF2-40B4-BE49-F238E27FC236}">
                <a16:creationId xmlns:a16="http://schemas.microsoft.com/office/drawing/2014/main" id="{1FCE449C-D340-41D2-BDD5-5A31068FC8B8}"/>
              </a:ext>
            </a:extLst>
          </p:cNvPr>
          <p:cNvSpPr>
            <a:spLocks noGrp="1"/>
          </p:cNvSpPr>
          <p:nvPr>
            <p:ph type="body" sz="quarter" idx="20" hasCustomPrompt="1"/>
          </p:nvPr>
        </p:nvSpPr>
        <p:spPr>
          <a:xfrm>
            <a:off x="920003" y="4760985"/>
            <a:ext cx="876930" cy="720400"/>
          </a:xfrm>
          <a:prstGeom prst="rect">
            <a:avLst/>
          </a:prstGeom>
          <a:ln w="28575">
            <a:solidFill>
              <a:schemeClr val="accent4"/>
            </a:solidFill>
          </a:ln>
        </p:spPr>
        <p:txBody>
          <a:bodyPr lIns="0" tIns="0" rIns="0" bIns="0" anchor="ctr"/>
          <a:lstStyle>
            <a:lvl1pPr marL="0" indent="0" algn="ctr">
              <a:lnSpc>
                <a:spcPct val="100000"/>
              </a:lnSpc>
              <a:spcBef>
                <a:spcPts val="0"/>
              </a:spcBef>
              <a:buNone/>
              <a:defRPr sz="2400" cap="all" spc="100" baseline="0">
                <a:solidFill>
                  <a:schemeClr val="accent5">
                    <a:lumMod val="50000"/>
                  </a:schemeClr>
                </a:solidFill>
                <a:latin typeface="+mj-lt"/>
              </a:defRPr>
            </a:lvl1pPr>
          </a:lstStyle>
          <a:p>
            <a:pPr lvl="0"/>
            <a:r>
              <a:rPr lang="en-US" dirty="0"/>
              <a:t>text</a:t>
            </a:r>
          </a:p>
        </p:txBody>
      </p:sp>
      <p:sp>
        <p:nvSpPr>
          <p:cNvPr id="14" name="Text Placeholder 10">
            <a:extLst>
              <a:ext uri="{FF2B5EF4-FFF2-40B4-BE49-F238E27FC236}">
                <a16:creationId xmlns:a16="http://schemas.microsoft.com/office/drawing/2014/main" id="{41E2BD66-8465-46D7-9283-569B4EE4590B}"/>
              </a:ext>
            </a:extLst>
          </p:cNvPr>
          <p:cNvSpPr>
            <a:spLocks noGrp="1"/>
          </p:cNvSpPr>
          <p:nvPr>
            <p:ph type="body" sz="quarter" idx="12" hasCustomPrompt="1"/>
          </p:nvPr>
        </p:nvSpPr>
        <p:spPr>
          <a:xfrm>
            <a:off x="2102977" y="1456753"/>
            <a:ext cx="3365003" cy="1017102"/>
          </a:xfrm>
          <a:prstGeom prst="rect">
            <a:avLst/>
          </a:prstGeom>
        </p:spPr>
        <p:txBody>
          <a:bodyPr anchor="t"/>
          <a:lstStyle>
            <a:lvl1pPr marL="0" indent="0" algn="l">
              <a:lnSpc>
                <a:spcPct val="125000"/>
              </a:lnSpc>
              <a:spcBef>
                <a:spcPts val="0"/>
              </a:spcBef>
              <a:buNone/>
              <a:defRPr sz="1600" cap="none" spc="100" baseline="0">
                <a:solidFill>
                  <a:schemeClr val="tx1"/>
                </a:solidFill>
                <a:latin typeface="+mn-lt"/>
              </a:defRPr>
            </a:lvl1pPr>
          </a:lstStyle>
          <a:p>
            <a:pPr lvl="0"/>
            <a:r>
              <a:rPr lang="en-US" dirty="0"/>
              <a:t>Click to add text</a:t>
            </a:r>
          </a:p>
        </p:txBody>
      </p:sp>
      <p:sp>
        <p:nvSpPr>
          <p:cNvPr id="21" name="Text Placeholder 10">
            <a:extLst>
              <a:ext uri="{FF2B5EF4-FFF2-40B4-BE49-F238E27FC236}">
                <a16:creationId xmlns:a16="http://schemas.microsoft.com/office/drawing/2014/main" id="{13CFC961-1ED9-4817-9DB9-A1F1D0FD2ABA}"/>
              </a:ext>
            </a:extLst>
          </p:cNvPr>
          <p:cNvSpPr>
            <a:spLocks noGrp="1"/>
          </p:cNvSpPr>
          <p:nvPr>
            <p:ph type="body" sz="quarter" idx="17" hasCustomPrompt="1"/>
          </p:nvPr>
        </p:nvSpPr>
        <p:spPr>
          <a:xfrm>
            <a:off x="2102977" y="3031685"/>
            <a:ext cx="3365003" cy="1017102"/>
          </a:xfrm>
          <a:prstGeom prst="rect">
            <a:avLst/>
          </a:prstGeom>
        </p:spPr>
        <p:txBody>
          <a:bodyPr anchor="t"/>
          <a:lstStyle>
            <a:lvl1pPr marL="0" indent="0" algn="l">
              <a:lnSpc>
                <a:spcPct val="125000"/>
              </a:lnSpc>
              <a:spcBef>
                <a:spcPts val="0"/>
              </a:spcBef>
              <a:buNone/>
              <a:defRPr sz="1600" cap="none" spc="100" baseline="0">
                <a:solidFill>
                  <a:schemeClr val="tx1"/>
                </a:solidFill>
                <a:latin typeface="+mn-lt"/>
              </a:defRPr>
            </a:lvl1pPr>
          </a:lstStyle>
          <a:p>
            <a:pPr lvl="0"/>
            <a:r>
              <a:rPr lang="en-US" dirty="0"/>
              <a:t>Click to add text</a:t>
            </a:r>
          </a:p>
        </p:txBody>
      </p:sp>
      <p:sp>
        <p:nvSpPr>
          <p:cNvPr id="23" name="Text Placeholder 10">
            <a:extLst>
              <a:ext uri="{FF2B5EF4-FFF2-40B4-BE49-F238E27FC236}">
                <a16:creationId xmlns:a16="http://schemas.microsoft.com/office/drawing/2014/main" id="{7E0D9B8E-402D-44A1-920E-4838543BD9F3}"/>
              </a:ext>
            </a:extLst>
          </p:cNvPr>
          <p:cNvSpPr>
            <a:spLocks noGrp="1"/>
          </p:cNvSpPr>
          <p:nvPr>
            <p:ph type="body" sz="quarter" idx="19" hasCustomPrompt="1"/>
          </p:nvPr>
        </p:nvSpPr>
        <p:spPr>
          <a:xfrm>
            <a:off x="2102977" y="4612634"/>
            <a:ext cx="3365003" cy="1017102"/>
          </a:xfrm>
          <a:prstGeom prst="rect">
            <a:avLst/>
          </a:prstGeom>
        </p:spPr>
        <p:txBody>
          <a:bodyPr anchor="t"/>
          <a:lstStyle>
            <a:lvl1pPr marL="0" indent="0" algn="l">
              <a:lnSpc>
                <a:spcPct val="125000"/>
              </a:lnSpc>
              <a:spcBef>
                <a:spcPts val="0"/>
              </a:spcBef>
              <a:buNone/>
              <a:defRPr sz="1600" cap="none" spc="100" baseline="0">
                <a:solidFill>
                  <a:schemeClr val="tx1"/>
                </a:solidFill>
                <a:latin typeface="+mn-lt"/>
              </a:defRPr>
            </a:lvl1pPr>
          </a:lstStyle>
          <a:p>
            <a:pPr lvl="0"/>
            <a:r>
              <a:rPr lang="en-US" dirty="0"/>
              <a:t>Click to add text</a:t>
            </a:r>
          </a:p>
        </p:txBody>
      </p:sp>
      <p:sp>
        <p:nvSpPr>
          <p:cNvPr id="25" name="Date Placeholder 3">
            <a:extLst>
              <a:ext uri="{FF2B5EF4-FFF2-40B4-BE49-F238E27FC236}">
                <a16:creationId xmlns:a16="http://schemas.microsoft.com/office/drawing/2014/main" id="{64607288-5296-4BAF-B405-7F1902FA0EF0}"/>
              </a:ext>
            </a:extLst>
          </p:cNvPr>
          <p:cNvSpPr>
            <a:spLocks noGrp="1"/>
          </p:cNvSpPr>
          <p:nvPr>
            <p:ph type="dt" sz="half" idx="2"/>
          </p:nvPr>
        </p:nvSpPr>
        <p:spPr>
          <a:xfrm>
            <a:off x="0" y="6248018"/>
            <a:ext cx="2435528" cy="614850"/>
          </a:xfrm>
          <a:prstGeom prst="rect">
            <a:avLst/>
          </a:prstGeom>
          <a:solidFill>
            <a:schemeClr val="accent2">
              <a:alpha val="92000"/>
            </a:schemeClr>
          </a:solidFill>
        </p:spPr>
        <p:txBody>
          <a:bodyPr vert="horz" lIns="274320" tIns="0" rIns="91440" bIns="45720" rtlCol="0" anchor="ctr"/>
          <a:lstStyle>
            <a:lvl1pPr algn="ctr">
              <a:defRPr sz="1200" spc="100" baseline="0">
                <a:solidFill>
                  <a:schemeClr val="bg1"/>
                </a:solidFill>
                <a:effectLst>
                  <a:outerShdw blurRad="38100" dist="38100" dir="2700000" algn="tl">
                    <a:srgbClr val="000000">
                      <a:alpha val="43137"/>
                    </a:srgbClr>
                  </a:outerShdw>
                </a:effectLst>
              </a:defRPr>
            </a:lvl1pPr>
          </a:lstStyle>
          <a:p>
            <a:r>
              <a:rPr lang="en-US"/>
              <a:t>20XX</a:t>
            </a:r>
            <a:endParaRPr lang="en-US" dirty="0"/>
          </a:p>
        </p:txBody>
      </p:sp>
      <p:sp>
        <p:nvSpPr>
          <p:cNvPr id="8" name="Picture Placeholder 8">
            <a:extLst>
              <a:ext uri="{FF2B5EF4-FFF2-40B4-BE49-F238E27FC236}">
                <a16:creationId xmlns:a16="http://schemas.microsoft.com/office/drawing/2014/main" id="{61341B70-2018-4DBE-BB9A-D1F7A895F9BE}"/>
              </a:ext>
            </a:extLst>
          </p:cNvPr>
          <p:cNvSpPr>
            <a:spLocks noGrp="1"/>
          </p:cNvSpPr>
          <p:nvPr>
            <p:ph type="pic" sz="quarter" idx="10" hasCustomPrompt="1"/>
          </p:nvPr>
        </p:nvSpPr>
        <p:spPr>
          <a:xfrm>
            <a:off x="6384174" y="0"/>
            <a:ext cx="5807825" cy="6858000"/>
          </a:xfrm>
          <a:prstGeom prst="rect">
            <a:avLst/>
          </a:prstGeom>
        </p:spPr>
        <p:txBody>
          <a:bodyPr/>
          <a:lstStyle>
            <a:lvl1pPr marL="0" indent="0" algn="ctr">
              <a:buNone/>
              <a:defRPr/>
            </a:lvl1pPr>
          </a:lstStyle>
          <a:p>
            <a:r>
              <a:rPr lang="en-US" dirty="0"/>
              <a:t>Click to add photo</a:t>
            </a:r>
          </a:p>
        </p:txBody>
      </p:sp>
      <p:sp>
        <p:nvSpPr>
          <p:cNvPr id="13" name="Footer Placeholder 3">
            <a:extLst>
              <a:ext uri="{FF2B5EF4-FFF2-40B4-BE49-F238E27FC236}">
                <a16:creationId xmlns:a16="http://schemas.microsoft.com/office/drawing/2014/main" id="{83CCEE28-12C2-4138-9214-420B5A5BCEC1}"/>
              </a:ext>
            </a:extLst>
          </p:cNvPr>
          <p:cNvSpPr>
            <a:spLocks noGrp="1"/>
          </p:cNvSpPr>
          <p:nvPr>
            <p:ph type="ftr" sz="quarter" idx="11"/>
          </p:nvPr>
        </p:nvSpPr>
        <p:spPr>
          <a:xfrm>
            <a:off x="2439762" y="6248018"/>
            <a:ext cx="7267426" cy="620868"/>
          </a:xfrm>
          <a:prstGeom prst="rect">
            <a:avLst/>
          </a:prstGeom>
          <a:solidFill>
            <a:schemeClr val="accent2">
              <a:alpha val="92000"/>
            </a:schemeClr>
          </a:solidFill>
        </p:spPr>
        <p:txBody>
          <a:bodyPr tIns="0"/>
          <a:lstStyle>
            <a:lvl1pPr>
              <a:defRPr>
                <a:solidFill>
                  <a:schemeClr val="bg1"/>
                </a:solidFill>
                <a:effectLst>
                  <a:outerShdw blurRad="38100" dist="38100" dir="2700000" algn="tl">
                    <a:srgbClr val="000000">
                      <a:alpha val="43137"/>
                    </a:srgbClr>
                  </a:outerShdw>
                </a:effectLst>
              </a:defRPr>
            </a:lvl1pPr>
          </a:lstStyle>
          <a:p>
            <a:r>
              <a:rPr lang="en-US" dirty="0"/>
              <a:t>Pitch deck</a:t>
            </a:r>
          </a:p>
        </p:txBody>
      </p:sp>
      <p:sp>
        <p:nvSpPr>
          <p:cNvPr id="27" name="Slide Number Placeholder 5">
            <a:extLst>
              <a:ext uri="{FF2B5EF4-FFF2-40B4-BE49-F238E27FC236}">
                <a16:creationId xmlns:a16="http://schemas.microsoft.com/office/drawing/2014/main" id="{347ECA7D-7D2B-475F-874D-51236135A6E9}"/>
              </a:ext>
            </a:extLst>
          </p:cNvPr>
          <p:cNvSpPr>
            <a:spLocks noGrp="1"/>
          </p:cNvSpPr>
          <p:nvPr>
            <p:ph type="sldNum" sz="quarter" idx="4"/>
          </p:nvPr>
        </p:nvSpPr>
        <p:spPr>
          <a:xfrm>
            <a:off x="9707188" y="6248018"/>
            <a:ext cx="2495699" cy="620866"/>
          </a:xfrm>
          <a:prstGeom prst="rect">
            <a:avLst/>
          </a:prstGeom>
          <a:solidFill>
            <a:schemeClr val="accent2">
              <a:alpha val="92000"/>
            </a:schemeClr>
          </a:solidFill>
        </p:spPr>
        <p:txBody>
          <a:bodyPr vert="horz" lIns="457200" tIns="0" rIns="91440" bIns="45720" rtlCol="0" anchor="ctr"/>
          <a:lstStyle>
            <a:lvl1pPr algn="ct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390707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11/19/2025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9930060"/>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 id="2147483726" r:id="rId12"/>
    <p:sldLayoutId id="2147483727" r:id="rId13"/>
    <p:sldLayoutId id="2147483728" r:id="rId14"/>
    <p:sldLayoutId id="2147483729" r:id="rId15"/>
    <p:sldLayoutId id="2147483730" r:id="rId16"/>
    <p:sldLayoutId id="2147483731" r:id="rId17"/>
    <p:sldLayoutId id="2147483732" r:id="rId18"/>
  </p:sldLayoutIdLst>
  <p:hf sldNum="0" hdr="0" ftr="0" dt="0"/>
  <p:txStyles>
    <p:titleStyle>
      <a:lvl1pPr algn="l" defTabSz="914400" rtl="0" eaLnBrk="1" latinLnBrk="0" hangingPunct="1">
        <a:lnSpc>
          <a:spcPct val="90000"/>
        </a:lnSpc>
        <a:spcBef>
          <a:spcPct val="0"/>
        </a:spcBef>
        <a:buNone/>
        <a:defRPr sz="47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1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1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1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1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5.xml"/><Relationship Id="rId5" Type="http://schemas.openxmlformats.org/officeDocument/2006/relationships/image" Target="../media/image2.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6.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44AD70-0BA8-99BF-33A7-EB49E7F52612}"/>
              </a:ext>
            </a:extLst>
          </p:cNvPr>
          <p:cNvSpPr>
            <a:spLocks noGrp="1"/>
          </p:cNvSpPr>
          <p:nvPr>
            <p:ph type="ctrTitle"/>
          </p:nvPr>
        </p:nvSpPr>
        <p:spPr>
          <a:xfrm>
            <a:off x="5119148" y="106454"/>
            <a:ext cx="6253317" cy="3686015"/>
          </a:xfrm>
        </p:spPr>
        <p:txBody>
          <a:bodyPr>
            <a:normAutofit/>
          </a:bodyPr>
          <a:lstStyle/>
          <a:p>
            <a:r>
              <a:rPr lang="en-US" sz="3600" dirty="0">
                <a:latin typeface="Arial" panose="020B0604020202020204" pitchFamily="34" charset="0"/>
                <a:cs typeface="Arial" panose="020B0604020202020204" pitchFamily="34" charset="0"/>
              </a:rPr>
              <a:t>Lunar Lander using OpenAI V3 – Continuous Action Space</a:t>
            </a:r>
            <a:endParaRPr lang="en-IN" sz="36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13EF682C-F689-7F86-34F8-553FF2A2B985}"/>
              </a:ext>
            </a:extLst>
          </p:cNvPr>
          <p:cNvPicPr>
            <a:picLocks noChangeAspect="1"/>
          </p:cNvPicPr>
          <p:nvPr/>
        </p:nvPicPr>
        <p:blipFill>
          <a:blip r:embed="rId2">
            <a:extLst>
              <a:ext uri="{28A0092B-C50C-407E-A947-70E740481C1C}">
                <a14:useLocalDpi xmlns:a14="http://schemas.microsoft.com/office/drawing/2010/main" val="0"/>
              </a:ext>
            </a:extLst>
          </a:blip>
          <a:srcRect l="30990" r="30990"/>
          <a:stretch/>
        </p:blipFill>
        <p:spPr>
          <a:xfrm>
            <a:off x="0" y="0"/>
            <a:ext cx="4635315" cy="6857999"/>
          </a:xfrm>
          <a:prstGeom prst="rect">
            <a:avLst/>
          </a:prstGeom>
        </p:spPr>
      </p:pic>
      <p:cxnSp>
        <p:nvCxnSpPr>
          <p:cNvPr id="11" name="Straight Connector 10">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94512C-39F1-67B9-EFB8-05B2FE5BE1D0}"/>
              </a:ext>
            </a:extLst>
          </p:cNvPr>
          <p:cNvSpPr txBox="1"/>
          <p:nvPr/>
        </p:nvSpPr>
        <p:spPr>
          <a:xfrm>
            <a:off x="4928013" y="5911837"/>
            <a:ext cx="6594065" cy="646331"/>
          </a:xfrm>
          <a:prstGeom prst="rect">
            <a:avLst/>
          </a:prstGeom>
          <a:noFill/>
        </p:spPr>
        <p:txBody>
          <a:bodyPr wrap="square">
            <a:spAutoFit/>
          </a:bodyPr>
          <a:lstStyle/>
          <a:p>
            <a:r>
              <a:rPr lang="en-US">
                <a:latin typeface="Arial" panose="020B0604020202020204" pitchFamily="34" charset="0"/>
                <a:cs typeface="Arial" panose="020B0604020202020204" pitchFamily="34" charset="0"/>
              </a:rPr>
              <a:t>Name: </a:t>
            </a:r>
            <a:r>
              <a:rPr lang="en-US"/>
              <a:t>Vedant Malhotra  ,Dhyanesh Sharma ,Vidyansh Gaur</a:t>
            </a:r>
          </a:p>
          <a:p>
            <a:r>
              <a:rPr lang="en-US">
                <a:latin typeface="Arial" panose="020B0604020202020204" pitchFamily="34" charset="0"/>
                <a:cs typeface="Arial" panose="020B0604020202020204" pitchFamily="34" charset="0"/>
              </a:rPr>
              <a:t>Roll no.: </a:t>
            </a:r>
            <a:r>
              <a:rPr lang="en-US"/>
              <a:t>23csu339  ,23csu100,23csu342</a:t>
            </a:r>
            <a:endParaRPr lang="en-IN" dirty="0"/>
          </a:p>
        </p:txBody>
      </p:sp>
      <p:pic>
        <p:nvPicPr>
          <p:cNvPr id="3" name="Picture 2">
            <a:extLst>
              <a:ext uri="{FF2B5EF4-FFF2-40B4-BE49-F238E27FC236}">
                <a16:creationId xmlns:a16="http://schemas.microsoft.com/office/drawing/2014/main" id="{DFB0EDB8-7160-AF8D-E508-28F6C4C7BD60}"/>
              </a:ext>
            </a:extLst>
          </p:cNvPr>
          <p:cNvPicPr>
            <a:picLocks noChangeAspect="1"/>
          </p:cNvPicPr>
          <p:nvPr/>
        </p:nvPicPr>
        <p:blipFill>
          <a:blip r:embed="rId3"/>
          <a:stretch>
            <a:fillRect/>
          </a:stretch>
        </p:blipFill>
        <p:spPr>
          <a:xfrm>
            <a:off x="10032511" y="1"/>
            <a:ext cx="2143125" cy="1580444"/>
          </a:xfrm>
          <a:prstGeom prst="rect">
            <a:avLst/>
          </a:prstGeom>
        </p:spPr>
      </p:pic>
    </p:spTree>
    <p:extLst>
      <p:ext uri="{BB962C8B-B14F-4D97-AF65-F5344CB8AC3E}">
        <p14:creationId xmlns:p14="http://schemas.microsoft.com/office/powerpoint/2010/main" val="534143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 name="Rectangle 55">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58" name="Straight Connector 57">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E844E128-FF69-4E9F-8327-6B504B3C5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 y="0"/>
            <a:ext cx="12191985"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6" name="Title 2">
            <a:extLst>
              <a:ext uri="{FF2B5EF4-FFF2-40B4-BE49-F238E27FC236}">
                <a16:creationId xmlns:a16="http://schemas.microsoft.com/office/drawing/2014/main" id="{C60E6CE8-7AB6-B54A-8434-8F730542E2DD}"/>
              </a:ext>
            </a:extLst>
          </p:cNvPr>
          <p:cNvSpPr>
            <a:spLocks noGrp="1"/>
          </p:cNvSpPr>
          <p:nvPr>
            <p:ph type="title"/>
          </p:nvPr>
        </p:nvSpPr>
        <p:spPr>
          <a:xfrm>
            <a:off x="643467" y="516835"/>
            <a:ext cx="3448259" cy="1666501"/>
          </a:xfrm>
        </p:spPr>
        <p:txBody>
          <a:bodyPr vert="horz" lIns="91440" tIns="45720" rIns="91440" bIns="45720" rtlCol="0" anchor="b">
            <a:normAutofit/>
          </a:bodyPr>
          <a:lstStyle/>
          <a:p>
            <a:pPr algn="ctr"/>
            <a:r>
              <a:rPr lang="en-US" dirty="0">
                <a:solidFill>
                  <a:srgbClr val="FFFFFF"/>
                </a:solidFill>
              </a:rPr>
              <a:t> </a:t>
            </a:r>
            <a:r>
              <a:rPr lang="en-US" b="0" dirty="0">
                <a:solidFill>
                  <a:srgbClr val="FFFFFF"/>
                </a:solidFill>
                <a:latin typeface="Arial" panose="020B0604020202020204" pitchFamily="34" charset="0"/>
                <a:cs typeface="Arial" panose="020B0604020202020204" pitchFamily="34" charset="0"/>
              </a:rPr>
              <a:t>Project   Objective</a:t>
            </a:r>
          </a:p>
        </p:txBody>
      </p:sp>
      <p:cxnSp>
        <p:nvCxnSpPr>
          <p:cNvPr id="62" name="Straight Connector 61">
            <a:extLst>
              <a:ext uri="{FF2B5EF4-FFF2-40B4-BE49-F238E27FC236}">
                <a16:creationId xmlns:a16="http://schemas.microsoft.com/office/drawing/2014/main" id="{055CEADF-09EA-423C-8C45-F94AF44D5A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686" y="2353592"/>
            <a:ext cx="329184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29A2A88-DA62-1D93-3941-92CE55A8DFAC}"/>
              </a:ext>
            </a:extLst>
          </p:cNvPr>
          <p:cNvSpPr txBox="1"/>
          <p:nvPr/>
        </p:nvSpPr>
        <p:spPr>
          <a:xfrm>
            <a:off x="432079" y="2844361"/>
            <a:ext cx="4511710" cy="4024828"/>
          </a:xfrm>
          <a:prstGeom prst="rect">
            <a:avLst/>
          </a:prstGeom>
        </p:spPr>
        <p:txBody>
          <a:bodyPr vert="horz" lIns="0" tIns="45720" rIns="0" bIns="45720" rtlCol="0">
            <a:normAutofit/>
          </a:bodyPr>
          <a:lstStyle/>
          <a:p>
            <a:pPr algn="just">
              <a:lnSpc>
                <a:spcPct val="90000"/>
              </a:lnSpc>
              <a:spcAft>
                <a:spcPts val="600"/>
              </a:spcAft>
              <a:buFont typeface="Calibri" panose="020F0502020204030204" pitchFamily="34" charset="0"/>
            </a:pPr>
            <a:r>
              <a:rPr lang="en-US" cap="none" dirty="0">
                <a:solidFill>
                  <a:srgbClr val="FFFFFF"/>
                </a:solidFill>
                <a:latin typeface="Arial" panose="020B0604020202020204" pitchFamily="34" charset="0"/>
                <a:cs typeface="Arial" panose="020B0604020202020204" pitchFamily="34" charset="0"/>
              </a:rPr>
              <a:t>The project aims to train an autonomous agent to safely land a spacecraft on a designated pad using continuous control inputs  between –1 and +1. The agent learns to balance thrust, direction, and stability. To solve this continuous control challenge, the  project  uses the Deep Deterministic Policy Gradient (DDPG) algorithm with Actor–Critic neural networks to learn optimal landing strategies through interaction and feedback.</a:t>
            </a:r>
            <a:endParaRPr lang="en-US" dirty="0">
              <a:solidFill>
                <a:srgbClr val="FFFFFF"/>
              </a:solidFill>
              <a:latin typeface="Arial" panose="020B0604020202020204" pitchFamily="34" charset="0"/>
              <a:cs typeface="Arial" panose="020B0604020202020204" pitchFamily="34" charset="0"/>
            </a:endParaRPr>
          </a:p>
        </p:txBody>
      </p:sp>
      <p:pic>
        <p:nvPicPr>
          <p:cNvPr id="5" name="Picture Placeholder 4">
            <a:extLst>
              <a:ext uri="{FF2B5EF4-FFF2-40B4-BE49-F238E27FC236}">
                <a16:creationId xmlns:a16="http://schemas.microsoft.com/office/drawing/2014/main" id="{7913F9A8-5859-8441-9D34-EA6DF53BAFAB}"/>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9100" r="19075"/>
          <a:stretch>
            <a:fillRect/>
          </a:stretch>
        </p:blipFill>
        <p:spPr>
          <a:xfrm>
            <a:off x="5201871" y="10"/>
            <a:ext cx="6990128" cy="6857990"/>
          </a:xfrm>
          <a:prstGeom prst="rect">
            <a:avLst/>
          </a:prstGeom>
        </p:spPr>
      </p:pic>
      <p:pic>
        <p:nvPicPr>
          <p:cNvPr id="7" name="Picture 6">
            <a:extLst>
              <a:ext uri="{FF2B5EF4-FFF2-40B4-BE49-F238E27FC236}">
                <a16:creationId xmlns:a16="http://schemas.microsoft.com/office/drawing/2014/main" id="{8DD7F6DC-1B1D-761B-AF9F-86BE4DEDE735}"/>
              </a:ext>
            </a:extLst>
          </p:cNvPr>
          <p:cNvPicPr>
            <a:picLocks noChangeAspect="1"/>
          </p:cNvPicPr>
          <p:nvPr/>
        </p:nvPicPr>
        <p:blipFill>
          <a:blip r:embed="rId3"/>
          <a:stretch>
            <a:fillRect/>
          </a:stretch>
        </p:blipFill>
        <p:spPr>
          <a:xfrm>
            <a:off x="10032511" y="1"/>
            <a:ext cx="2143125" cy="1580444"/>
          </a:xfrm>
          <a:prstGeom prst="rect">
            <a:avLst/>
          </a:prstGeom>
        </p:spPr>
      </p:pic>
    </p:spTree>
    <p:extLst>
      <p:ext uri="{BB962C8B-B14F-4D97-AF65-F5344CB8AC3E}">
        <p14:creationId xmlns:p14="http://schemas.microsoft.com/office/powerpoint/2010/main" val="403171575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21B7E-CA82-FF6F-20AB-F898EEF3C357}"/>
              </a:ext>
            </a:extLst>
          </p:cNvPr>
          <p:cNvSpPr>
            <a:spLocks noGrp="1"/>
          </p:cNvSpPr>
          <p:nvPr>
            <p:ph type="title"/>
          </p:nvPr>
        </p:nvSpPr>
        <p:spPr>
          <a:xfrm>
            <a:off x="584814" y="263529"/>
            <a:ext cx="10058400" cy="1450757"/>
          </a:xfrm>
        </p:spPr>
        <p:txBody>
          <a:bodyPr>
            <a:normAutofit/>
          </a:bodyPr>
          <a:lstStyle/>
          <a:p>
            <a:r>
              <a:rPr lang="en-US" sz="4000" dirty="0">
                <a:solidFill>
                  <a:schemeClr val="tx1"/>
                </a:solidFill>
                <a:latin typeface="Arial" panose="020B0604020202020204" pitchFamily="34" charset="0"/>
                <a:cs typeface="Arial" panose="020B0604020202020204" pitchFamily="34" charset="0"/>
              </a:rPr>
              <a:t>Deep Deterministic Policy Gradient </a:t>
            </a:r>
            <a:br>
              <a:rPr lang="en-US" sz="4000" dirty="0">
                <a:solidFill>
                  <a:schemeClr val="tx1"/>
                </a:solidFill>
                <a:latin typeface="Arial" panose="020B0604020202020204" pitchFamily="34" charset="0"/>
                <a:cs typeface="Arial" panose="020B0604020202020204" pitchFamily="34" charset="0"/>
              </a:rPr>
            </a:br>
            <a:r>
              <a:rPr lang="en-US" sz="4000" dirty="0">
                <a:solidFill>
                  <a:schemeClr val="tx1"/>
                </a:solidFill>
                <a:latin typeface="Arial" panose="020B0604020202020204" pitchFamily="34" charset="0"/>
                <a:cs typeface="Arial" panose="020B0604020202020204" pitchFamily="34" charset="0"/>
              </a:rPr>
              <a:t>(DDPG) algorithm</a:t>
            </a:r>
            <a:endParaRPr lang="en-IN" sz="4000" dirty="0">
              <a:solidFill>
                <a:schemeClr val="tx1"/>
              </a:solidFill>
            </a:endParaRPr>
          </a:p>
        </p:txBody>
      </p:sp>
      <p:sp>
        <p:nvSpPr>
          <p:cNvPr id="3" name="Content Placeholder 2">
            <a:extLst>
              <a:ext uri="{FF2B5EF4-FFF2-40B4-BE49-F238E27FC236}">
                <a16:creationId xmlns:a16="http://schemas.microsoft.com/office/drawing/2014/main" id="{89A49054-F9C2-A5F0-F2F6-68A929BFF755}"/>
              </a:ext>
            </a:extLst>
          </p:cNvPr>
          <p:cNvSpPr>
            <a:spLocks noGrp="1"/>
          </p:cNvSpPr>
          <p:nvPr>
            <p:ph idx="1"/>
          </p:nvPr>
        </p:nvSpPr>
        <p:spPr>
          <a:xfrm>
            <a:off x="765685" y="2309168"/>
            <a:ext cx="10058400" cy="3760891"/>
          </a:xfrm>
        </p:spPr>
        <p:txBody>
          <a:bodyPr/>
          <a:lstStyle/>
          <a:p>
            <a:r>
              <a:rPr lang="en-US" b="1" dirty="0"/>
              <a:t>DDPG </a:t>
            </a:r>
            <a:r>
              <a:rPr lang="en-US" dirty="0"/>
              <a:t>is a reinforcement learning algorithm used for </a:t>
            </a:r>
            <a:r>
              <a:rPr lang="en-US" b="1" dirty="0"/>
              <a:t>continuous control problems</a:t>
            </a:r>
            <a:r>
              <a:rPr lang="en-US" dirty="0"/>
              <a:t>.</a:t>
            </a:r>
            <a:br>
              <a:rPr lang="en-US" dirty="0"/>
            </a:br>
            <a:r>
              <a:rPr lang="en-US" dirty="0"/>
              <a:t>It learns how to choose smooth, continuous actions (like throttling, steering, or controlling thrust) using two neural networks:</a:t>
            </a:r>
          </a:p>
          <a:p>
            <a:br>
              <a:rPr lang="en-US" dirty="0"/>
            </a:br>
            <a:r>
              <a:rPr lang="en-US" dirty="0"/>
              <a:t>One network decides the action (Actor) and another evaluates how good that action is (Critic).</a:t>
            </a:r>
            <a:br>
              <a:rPr lang="en-US" dirty="0"/>
            </a:br>
            <a:r>
              <a:rPr lang="en-US" dirty="0"/>
              <a:t>Together, they help the agent learn stable and precise control in environments like Lunar Lander, robots, and motors.</a:t>
            </a:r>
            <a:endParaRPr lang="en-IN" dirty="0"/>
          </a:p>
        </p:txBody>
      </p:sp>
      <p:pic>
        <p:nvPicPr>
          <p:cNvPr id="4" name="Picture 3">
            <a:extLst>
              <a:ext uri="{FF2B5EF4-FFF2-40B4-BE49-F238E27FC236}">
                <a16:creationId xmlns:a16="http://schemas.microsoft.com/office/drawing/2014/main" id="{D393361D-D01C-C104-FEE4-60D42385E6D5}"/>
              </a:ext>
            </a:extLst>
          </p:cNvPr>
          <p:cNvPicPr>
            <a:picLocks noChangeAspect="1"/>
          </p:cNvPicPr>
          <p:nvPr/>
        </p:nvPicPr>
        <p:blipFill>
          <a:blip r:embed="rId3"/>
          <a:stretch>
            <a:fillRect/>
          </a:stretch>
        </p:blipFill>
        <p:spPr>
          <a:xfrm>
            <a:off x="10032511" y="1"/>
            <a:ext cx="2143125" cy="1580444"/>
          </a:xfrm>
          <a:prstGeom prst="rect">
            <a:avLst/>
          </a:prstGeom>
        </p:spPr>
      </p:pic>
    </p:spTree>
    <p:extLst>
      <p:ext uri="{BB962C8B-B14F-4D97-AF65-F5344CB8AC3E}">
        <p14:creationId xmlns:p14="http://schemas.microsoft.com/office/powerpoint/2010/main" val="2171091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8D6D46BA-13CC-7C0A-7DB8-D8AEAD1DE1D6}"/>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30079" r="30079"/>
          <a:stretch/>
        </p:blipFill>
        <p:spPr>
          <a:xfrm>
            <a:off x="7968343" y="-7362"/>
            <a:ext cx="4223657" cy="6858000"/>
          </a:xfrm>
        </p:spPr>
      </p:pic>
      <p:pic>
        <p:nvPicPr>
          <p:cNvPr id="10" name="Picture 9">
            <a:extLst>
              <a:ext uri="{FF2B5EF4-FFF2-40B4-BE49-F238E27FC236}">
                <a16:creationId xmlns:a16="http://schemas.microsoft.com/office/drawing/2014/main" id="{588C5D2E-137A-C287-397B-0D847A23B7DA}"/>
              </a:ext>
            </a:extLst>
          </p:cNvPr>
          <p:cNvPicPr>
            <a:picLocks noChangeAspect="1"/>
          </p:cNvPicPr>
          <p:nvPr/>
        </p:nvPicPr>
        <p:blipFill>
          <a:blip r:embed="rId3"/>
          <a:stretch>
            <a:fillRect/>
          </a:stretch>
        </p:blipFill>
        <p:spPr>
          <a:xfrm>
            <a:off x="10048875" y="-7362"/>
            <a:ext cx="2143125" cy="1580444"/>
          </a:xfrm>
          <a:prstGeom prst="rect">
            <a:avLst/>
          </a:prstGeom>
        </p:spPr>
      </p:pic>
      <p:sp>
        <p:nvSpPr>
          <p:cNvPr id="5" name="TextBox 4">
            <a:extLst>
              <a:ext uri="{FF2B5EF4-FFF2-40B4-BE49-F238E27FC236}">
                <a16:creationId xmlns:a16="http://schemas.microsoft.com/office/drawing/2014/main" id="{52619BB9-3FA9-CF31-5153-91E12FDEFCBC}"/>
              </a:ext>
            </a:extLst>
          </p:cNvPr>
          <p:cNvSpPr txBox="1"/>
          <p:nvPr/>
        </p:nvSpPr>
        <p:spPr>
          <a:xfrm>
            <a:off x="618869" y="2020343"/>
            <a:ext cx="6907345" cy="2862322"/>
          </a:xfrm>
          <a:prstGeom prst="rect">
            <a:avLst/>
          </a:prstGeom>
          <a:noFill/>
        </p:spPr>
        <p:txBody>
          <a:bodyPr wrap="square">
            <a:spAutoFit/>
          </a:bodyPr>
          <a:lstStyle/>
          <a:p>
            <a:pPr marL="457200" indent="-457200">
              <a:buClr>
                <a:schemeClr val="tx1"/>
              </a:buClr>
              <a:buSzPct val="120000"/>
              <a:buFont typeface="+mj-lt"/>
              <a:buAutoNum type="arabicPeriod"/>
            </a:pPr>
            <a:r>
              <a:rPr lang="en-IN" sz="2000" dirty="0">
                <a:highlight>
                  <a:srgbClr val="FFFFFF"/>
                </a:highlight>
              </a:rPr>
              <a:t>Libraries Used</a:t>
            </a:r>
          </a:p>
          <a:p>
            <a:pPr marL="457200" indent="-457200">
              <a:buClr>
                <a:schemeClr val="tx1"/>
              </a:buClr>
              <a:buSzPct val="120000"/>
              <a:buFont typeface="+mj-lt"/>
              <a:buAutoNum type="arabicPeriod"/>
            </a:pPr>
            <a:r>
              <a:rPr lang="en-IN" sz="2000" dirty="0">
                <a:highlight>
                  <a:srgbClr val="FFFFFF"/>
                </a:highlight>
              </a:rPr>
              <a:t>Core DDPG Algorithm Module</a:t>
            </a:r>
          </a:p>
          <a:p>
            <a:pPr marL="457200" indent="-457200">
              <a:buClr>
                <a:schemeClr val="tx1"/>
              </a:buClr>
              <a:buSzPct val="120000"/>
              <a:buFont typeface="+mj-lt"/>
              <a:buAutoNum type="arabicPeriod"/>
            </a:pPr>
            <a:r>
              <a:rPr lang="en-IN" sz="2000" dirty="0">
                <a:highlight>
                  <a:srgbClr val="FFFFFF"/>
                </a:highlight>
              </a:rPr>
              <a:t>Model Training, Logging &amp; Saving Module</a:t>
            </a:r>
            <a:br>
              <a:rPr lang="en-IN" sz="2000" dirty="0">
                <a:highlight>
                  <a:srgbClr val="FFFFFF"/>
                </a:highlight>
              </a:rPr>
            </a:br>
            <a:r>
              <a:rPr lang="en-IN" sz="2000" dirty="0">
                <a:highlight>
                  <a:srgbClr val="FFFFFF"/>
                </a:highlight>
              </a:rPr>
              <a:t> • Model Files (.</a:t>
            </a:r>
            <a:r>
              <a:rPr lang="en-IN" sz="2000" dirty="0" err="1">
                <a:highlight>
                  <a:srgbClr val="FFFFFF"/>
                </a:highlight>
              </a:rPr>
              <a:t>pth</a:t>
            </a:r>
            <a:r>
              <a:rPr lang="en-IN" sz="2000" dirty="0">
                <a:highlight>
                  <a:srgbClr val="FFFFFF"/>
                </a:highlight>
              </a:rPr>
              <a:t>) – Saved Actor &amp; Critic Weights</a:t>
            </a:r>
            <a:br>
              <a:rPr lang="en-IN" sz="2000" dirty="0">
                <a:highlight>
                  <a:srgbClr val="FFFFFF"/>
                </a:highlight>
              </a:rPr>
            </a:br>
            <a:r>
              <a:rPr lang="en-IN" sz="2000" dirty="0">
                <a:highlight>
                  <a:srgbClr val="FFFFFF"/>
                </a:highlight>
              </a:rPr>
              <a:t> • Training Log Files – Rewards &amp; Step-wise Parameters</a:t>
            </a:r>
          </a:p>
          <a:p>
            <a:pPr marL="457200" indent="-457200">
              <a:buClr>
                <a:schemeClr val="tx1"/>
              </a:buClr>
              <a:buSzPct val="120000"/>
              <a:buFont typeface="+mj-lt"/>
              <a:buAutoNum type="arabicPeriod"/>
            </a:pPr>
            <a:r>
              <a:rPr lang="en-US" sz="2000" dirty="0">
                <a:highlight>
                  <a:srgbClr val="FFFFFF"/>
                </a:highlight>
              </a:rPr>
              <a:t>The Final Flight Demonstration Module</a:t>
            </a:r>
            <a:endParaRPr lang="en-IN" sz="2000" dirty="0">
              <a:highlight>
                <a:srgbClr val="FFFFFF"/>
              </a:highlight>
            </a:endParaRPr>
          </a:p>
          <a:p>
            <a:pPr marL="457200" indent="-457200">
              <a:buClr>
                <a:schemeClr val="tx1"/>
              </a:buClr>
              <a:buSzPct val="120000"/>
              <a:buFont typeface="+mj-lt"/>
              <a:buAutoNum type="arabicPeriod"/>
            </a:pPr>
            <a:r>
              <a:rPr lang="en-IN" sz="2000" dirty="0">
                <a:highlight>
                  <a:srgbClr val="FFFFFF"/>
                </a:highlight>
              </a:rPr>
              <a:t>Graphical Visualization of Rewards &amp; Parameters Module</a:t>
            </a:r>
          </a:p>
        </p:txBody>
      </p:sp>
      <p:sp>
        <p:nvSpPr>
          <p:cNvPr id="4" name="TextBox 3">
            <a:extLst>
              <a:ext uri="{FF2B5EF4-FFF2-40B4-BE49-F238E27FC236}">
                <a16:creationId xmlns:a16="http://schemas.microsoft.com/office/drawing/2014/main" id="{68DA211B-BC43-0A41-E01E-FDC3C5E39CCB}"/>
              </a:ext>
            </a:extLst>
          </p:cNvPr>
          <p:cNvSpPr txBox="1"/>
          <p:nvPr/>
        </p:nvSpPr>
        <p:spPr>
          <a:xfrm>
            <a:off x="736043" y="558912"/>
            <a:ext cx="6094324" cy="707886"/>
          </a:xfrm>
          <a:prstGeom prst="rect">
            <a:avLst/>
          </a:prstGeom>
          <a:noFill/>
        </p:spPr>
        <p:txBody>
          <a:bodyPr wrap="square">
            <a:spAutoFit/>
          </a:bodyPr>
          <a:lstStyle/>
          <a:p>
            <a:r>
              <a:rPr lang="en-US" sz="4000" dirty="0">
                <a:latin typeface="Arial" panose="020B0604020202020204" pitchFamily="34" charset="0"/>
                <a:cs typeface="Arial" panose="020B0604020202020204" pitchFamily="34" charset="0"/>
              </a:rPr>
              <a:t>Code Implementation</a:t>
            </a:r>
            <a:endParaRPr lang="en-IN"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8347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F0E306A-17E8-6DC3-59D5-E79C16203507}"/>
              </a:ext>
            </a:extLst>
          </p:cNvPr>
          <p:cNvPicPr>
            <a:picLocks noChangeAspect="1"/>
          </p:cNvPicPr>
          <p:nvPr/>
        </p:nvPicPr>
        <p:blipFill>
          <a:blip r:embed="rId3"/>
          <a:stretch>
            <a:fillRect/>
          </a:stretch>
        </p:blipFill>
        <p:spPr>
          <a:xfrm>
            <a:off x="10032511" y="1"/>
            <a:ext cx="2143125" cy="1580444"/>
          </a:xfrm>
          <a:prstGeom prst="rect">
            <a:avLst/>
          </a:prstGeom>
        </p:spPr>
      </p:pic>
      <p:sp>
        <p:nvSpPr>
          <p:cNvPr id="5" name="TextBox 4">
            <a:extLst>
              <a:ext uri="{FF2B5EF4-FFF2-40B4-BE49-F238E27FC236}">
                <a16:creationId xmlns:a16="http://schemas.microsoft.com/office/drawing/2014/main" id="{A62377AE-B73D-96DF-705B-BED2274FD059}"/>
              </a:ext>
            </a:extLst>
          </p:cNvPr>
          <p:cNvSpPr txBox="1"/>
          <p:nvPr/>
        </p:nvSpPr>
        <p:spPr>
          <a:xfrm>
            <a:off x="937008" y="526587"/>
            <a:ext cx="8518489" cy="707886"/>
          </a:xfrm>
          <a:prstGeom prst="rect">
            <a:avLst/>
          </a:prstGeom>
          <a:noFill/>
        </p:spPr>
        <p:txBody>
          <a:bodyPr wrap="square">
            <a:spAutoFit/>
          </a:bodyPr>
          <a:lstStyle/>
          <a:p>
            <a:r>
              <a:rPr lang="en-US" sz="4000" dirty="0">
                <a:latin typeface="Arial" panose="020B0604020202020204" pitchFamily="34" charset="0"/>
                <a:cs typeface="Arial" panose="020B0604020202020204" pitchFamily="34" charset="0"/>
              </a:rPr>
              <a:t>1.Libraries Used </a:t>
            </a:r>
            <a:endParaRPr lang="en-IN" sz="4000" dirty="0">
              <a:latin typeface="Arial" panose="020B0604020202020204" pitchFamily="34" charset="0"/>
              <a:cs typeface="Arial" panose="020B0604020202020204" pitchFamily="34" charset="0"/>
            </a:endParaRPr>
          </a:p>
        </p:txBody>
      </p:sp>
      <p:graphicFrame>
        <p:nvGraphicFramePr>
          <p:cNvPr id="9" name="Table 8">
            <a:extLst>
              <a:ext uri="{FF2B5EF4-FFF2-40B4-BE49-F238E27FC236}">
                <a16:creationId xmlns:a16="http://schemas.microsoft.com/office/drawing/2014/main" id="{3CE41F9F-90AD-3E0E-21B0-AF408A190DD5}"/>
              </a:ext>
            </a:extLst>
          </p:cNvPr>
          <p:cNvGraphicFramePr>
            <a:graphicFrameLocks noGrp="1"/>
          </p:cNvGraphicFramePr>
          <p:nvPr>
            <p:extLst>
              <p:ext uri="{D42A27DB-BD31-4B8C-83A1-F6EECF244321}">
                <p14:modId xmlns:p14="http://schemas.microsoft.com/office/powerpoint/2010/main" val="1768765216"/>
              </p:ext>
            </p:extLst>
          </p:nvPr>
        </p:nvGraphicFramePr>
        <p:xfrm>
          <a:off x="1380879" y="1851750"/>
          <a:ext cx="8651632" cy="3771777"/>
        </p:xfrm>
        <a:graphic>
          <a:graphicData uri="http://schemas.openxmlformats.org/drawingml/2006/table">
            <a:tbl>
              <a:tblPr firstRow="1" bandRow="1">
                <a:tableStyleId>{5C22544A-7EE6-4342-B048-85BDC9FD1C3A}</a:tableStyleId>
              </a:tblPr>
              <a:tblGrid>
                <a:gridCol w="767713">
                  <a:extLst>
                    <a:ext uri="{9D8B030D-6E8A-4147-A177-3AD203B41FA5}">
                      <a16:colId xmlns:a16="http://schemas.microsoft.com/office/drawing/2014/main" val="3721865439"/>
                    </a:ext>
                  </a:extLst>
                </a:gridCol>
                <a:gridCol w="3569560">
                  <a:extLst>
                    <a:ext uri="{9D8B030D-6E8A-4147-A177-3AD203B41FA5}">
                      <a16:colId xmlns:a16="http://schemas.microsoft.com/office/drawing/2014/main" val="857123410"/>
                    </a:ext>
                  </a:extLst>
                </a:gridCol>
                <a:gridCol w="4314359">
                  <a:extLst>
                    <a:ext uri="{9D8B030D-6E8A-4147-A177-3AD203B41FA5}">
                      <a16:colId xmlns:a16="http://schemas.microsoft.com/office/drawing/2014/main" val="3358138652"/>
                    </a:ext>
                  </a:extLst>
                </a:gridCol>
              </a:tblGrid>
              <a:tr h="694801">
                <a:tc>
                  <a:txBody>
                    <a:bodyPr/>
                    <a:lstStyle/>
                    <a:p>
                      <a:r>
                        <a:rPr lang="en-US" dirty="0"/>
                        <a:t>S No.</a:t>
                      </a:r>
                      <a:endParaRPr lang="en-IN" dirty="0"/>
                    </a:p>
                  </a:txBody>
                  <a:tcPr/>
                </a:tc>
                <a:tc>
                  <a:txBody>
                    <a:bodyPr/>
                    <a:lstStyle/>
                    <a:p>
                      <a:r>
                        <a:rPr lang="en-US" dirty="0"/>
                        <a:t>Library Type </a:t>
                      </a:r>
                      <a:endParaRPr lang="en-IN" dirty="0"/>
                    </a:p>
                  </a:txBody>
                  <a:tcPr/>
                </a:tc>
                <a:tc>
                  <a:txBody>
                    <a:bodyPr/>
                    <a:lstStyle/>
                    <a:p>
                      <a:r>
                        <a:rPr lang="en-US" dirty="0"/>
                        <a:t>Library Name</a:t>
                      </a:r>
                      <a:endParaRPr lang="en-IN" dirty="0"/>
                    </a:p>
                  </a:txBody>
                  <a:tcPr/>
                </a:tc>
                <a:extLst>
                  <a:ext uri="{0D108BD9-81ED-4DB2-BD59-A6C34878D82A}">
                    <a16:rowId xmlns:a16="http://schemas.microsoft.com/office/drawing/2014/main" val="3545749473"/>
                  </a:ext>
                </a:extLst>
              </a:tr>
              <a:tr h="694801">
                <a:tc>
                  <a:txBody>
                    <a:bodyPr/>
                    <a:lstStyle/>
                    <a:p>
                      <a:r>
                        <a:rPr lang="en-US" dirty="0"/>
                        <a:t> 1.</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t>Core Python &amp; Utilities                                                      </a:t>
                      </a:r>
                    </a:p>
                    <a:p>
                      <a:endParaRPr lang="en-IN" dirty="0"/>
                    </a:p>
                  </a:txBody>
                  <a:tcPr/>
                </a:tc>
                <a:tc>
                  <a:txBody>
                    <a:bodyPr/>
                    <a:lstStyle/>
                    <a:p>
                      <a:r>
                        <a:rPr lang="en-US" dirty="0" err="1"/>
                        <a:t>Os</a:t>
                      </a:r>
                      <a:r>
                        <a:rPr lang="en-US" dirty="0"/>
                        <a:t> , </a:t>
                      </a:r>
                      <a:r>
                        <a:rPr lang="en-US" dirty="0" err="1"/>
                        <a:t>json</a:t>
                      </a:r>
                      <a:r>
                        <a:rPr lang="en-US" dirty="0"/>
                        <a:t>, datetime, random</a:t>
                      </a:r>
                      <a:endParaRPr lang="en-IN" dirty="0"/>
                    </a:p>
                  </a:txBody>
                  <a:tcPr/>
                </a:tc>
                <a:extLst>
                  <a:ext uri="{0D108BD9-81ED-4DB2-BD59-A6C34878D82A}">
                    <a16:rowId xmlns:a16="http://schemas.microsoft.com/office/drawing/2014/main" val="1024057771"/>
                  </a:ext>
                </a:extLst>
              </a:tr>
              <a:tr h="694801">
                <a:tc>
                  <a:txBody>
                    <a:bodyPr/>
                    <a:lstStyle/>
                    <a:p>
                      <a:r>
                        <a:rPr lang="en-US" dirty="0"/>
                        <a:t> 2.</a:t>
                      </a:r>
                      <a:endParaRPr lang="en-IN" dirty="0"/>
                    </a:p>
                  </a:txBody>
                  <a:tcPr/>
                </a:tc>
                <a:tc>
                  <a:txBody>
                    <a:bodyPr/>
                    <a:lstStyle/>
                    <a:p>
                      <a:r>
                        <a:rPr lang="en-IN" sz="1800" b="1" dirty="0"/>
                        <a:t>Deep Learning (</a:t>
                      </a:r>
                      <a:r>
                        <a:rPr lang="en-IN" sz="1800" b="1" dirty="0" err="1"/>
                        <a:t>PyTorch</a:t>
                      </a:r>
                      <a:r>
                        <a:rPr lang="en-IN" sz="1800" b="1" dirty="0"/>
                        <a:t>) </a:t>
                      </a:r>
                      <a:endParaRPr lang="en-IN" dirty="0"/>
                    </a:p>
                  </a:txBody>
                  <a:tcPr/>
                </a:tc>
                <a:tc>
                  <a:txBody>
                    <a:bodyPr/>
                    <a:lstStyle/>
                    <a:p>
                      <a:pPr algn="just"/>
                      <a:r>
                        <a:rPr lang="en-US" dirty="0" err="1"/>
                        <a:t>Torch,torch.nn</a:t>
                      </a:r>
                      <a:r>
                        <a:rPr lang="en-US" dirty="0"/>
                        <a:t> as </a:t>
                      </a:r>
                      <a:r>
                        <a:rPr lang="en-US" dirty="0" err="1"/>
                        <a:t>nn</a:t>
                      </a:r>
                      <a:r>
                        <a:rPr lang="en-US" dirty="0"/>
                        <a:t> ,</a:t>
                      </a:r>
                      <a:r>
                        <a:rPr lang="en-US" dirty="0" err="1"/>
                        <a:t>torch.optim</a:t>
                      </a:r>
                      <a:r>
                        <a:rPr lang="en-US" dirty="0"/>
                        <a:t> as </a:t>
                      </a:r>
                      <a:r>
                        <a:rPr lang="en-US" dirty="0" err="1"/>
                        <a:t>optim</a:t>
                      </a:r>
                      <a:r>
                        <a:rPr lang="en-US" dirty="0"/>
                        <a:t> , </a:t>
                      </a:r>
                      <a:r>
                        <a:rPr lang="en-US" dirty="0" err="1"/>
                        <a:t>torch.nn.functional</a:t>
                      </a:r>
                      <a:r>
                        <a:rPr lang="en-US" dirty="0"/>
                        <a:t> as F</a:t>
                      </a:r>
                      <a:endParaRPr lang="en-IN" dirty="0"/>
                    </a:p>
                  </a:txBody>
                  <a:tcPr/>
                </a:tc>
                <a:extLst>
                  <a:ext uri="{0D108BD9-81ED-4DB2-BD59-A6C34878D82A}">
                    <a16:rowId xmlns:a16="http://schemas.microsoft.com/office/drawing/2014/main" val="3494877405"/>
                  </a:ext>
                </a:extLst>
              </a:tr>
              <a:tr h="992573">
                <a:tc>
                  <a:txBody>
                    <a:bodyPr/>
                    <a:lstStyle/>
                    <a:p>
                      <a:r>
                        <a:rPr lang="en-US" dirty="0"/>
                        <a:t> 3.</a:t>
                      </a:r>
                      <a:endParaRPr lang="en-IN" dirty="0"/>
                    </a:p>
                  </a:txBody>
                  <a:tcPr/>
                </a:tc>
                <a:tc>
                  <a:txBody>
                    <a:bodyPr/>
                    <a:lstStyle/>
                    <a:p>
                      <a:r>
                        <a:rPr lang="en-IN" b="1" dirty="0"/>
                        <a:t> Reinforcement Learning Environment</a:t>
                      </a:r>
                    </a:p>
                    <a:p>
                      <a:r>
                        <a:rPr lang="en-IN" b="1" dirty="0"/>
                        <a:t>(Gymnasium</a:t>
                      </a:r>
                      <a:r>
                        <a:rPr lang="en-IN" dirty="0"/>
                        <a:t> )</a:t>
                      </a:r>
                    </a:p>
                  </a:txBody>
                  <a:tcPr/>
                </a:tc>
                <a:tc>
                  <a:txBody>
                    <a:bodyPr/>
                    <a:lstStyle/>
                    <a:p>
                      <a:r>
                        <a:rPr lang="en-US" dirty="0"/>
                        <a:t>Import gymnasium as gym</a:t>
                      </a:r>
                      <a:endParaRPr lang="en-IN" dirty="0"/>
                    </a:p>
                  </a:txBody>
                  <a:tcPr/>
                </a:tc>
                <a:extLst>
                  <a:ext uri="{0D108BD9-81ED-4DB2-BD59-A6C34878D82A}">
                    <a16:rowId xmlns:a16="http://schemas.microsoft.com/office/drawing/2014/main" val="2856153879"/>
                  </a:ext>
                </a:extLst>
              </a:tr>
              <a:tr h="694801">
                <a:tc>
                  <a:txBody>
                    <a:bodyPr/>
                    <a:lstStyle/>
                    <a:p>
                      <a:r>
                        <a:rPr lang="en-US" dirty="0"/>
                        <a:t> 4.</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t> Simulation Rendering</a:t>
                      </a:r>
                    </a:p>
                    <a:p>
                      <a:endParaRPr lang="en-IN" dirty="0"/>
                    </a:p>
                  </a:txBody>
                  <a:tcPr/>
                </a:tc>
                <a:tc>
                  <a:txBody>
                    <a:bodyPr/>
                    <a:lstStyle/>
                    <a:p>
                      <a:r>
                        <a:rPr lang="en-IN" b="0" dirty="0" err="1"/>
                        <a:t>Pygame</a:t>
                      </a:r>
                      <a:r>
                        <a:rPr lang="en-IN" dirty="0"/>
                        <a:t> (</a:t>
                      </a:r>
                      <a:r>
                        <a:rPr lang="en-IN" sz="1800" kern="1200" dirty="0">
                          <a:solidFill>
                            <a:schemeClr val="dk1"/>
                          </a:solidFill>
                          <a:latin typeface="+mn-lt"/>
                          <a:ea typeface="+mn-ea"/>
                          <a:cs typeface="+mn-cs"/>
                        </a:rPr>
                        <a:t>import </a:t>
                      </a:r>
                      <a:r>
                        <a:rPr lang="en-IN" sz="1800" kern="1200" dirty="0" err="1">
                          <a:solidFill>
                            <a:schemeClr val="dk1"/>
                          </a:solidFill>
                          <a:latin typeface="+mn-lt"/>
                          <a:ea typeface="+mn-ea"/>
                          <a:cs typeface="+mn-cs"/>
                        </a:rPr>
                        <a:t>pygame</a:t>
                      </a:r>
                      <a:r>
                        <a:rPr lang="en-IN" dirty="0"/>
                        <a:t>)</a:t>
                      </a:r>
                    </a:p>
                  </a:txBody>
                  <a:tcPr/>
                </a:tc>
                <a:extLst>
                  <a:ext uri="{0D108BD9-81ED-4DB2-BD59-A6C34878D82A}">
                    <a16:rowId xmlns:a16="http://schemas.microsoft.com/office/drawing/2014/main" val="1219200535"/>
                  </a:ext>
                </a:extLst>
              </a:tr>
            </a:tbl>
          </a:graphicData>
        </a:graphic>
      </p:graphicFrame>
    </p:spTree>
    <p:extLst>
      <p:ext uri="{BB962C8B-B14F-4D97-AF65-F5344CB8AC3E}">
        <p14:creationId xmlns:p14="http://schemas.microsoft.com/office/powerpoint/2010/main" val="3984595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92536-3924-731B-F85C-4420FED6D5A9}"/>
              </a:ext>
            </a:extLst>
          </p:cNvPr>
          <p:cNvSpPr>
            <a:spLocks noGrp="1"/>
          </p:cNvSpPr>
          <p:nvPr>
            <p:ph type="title"/>
          </p:nvPr>
        </p:nvSpPr>
        <p:spPr>
          <a:xfrm>
            <a:off x="514476" y="129688"/>
            <a:ext cx="10058400" cy="1450757"/>
          </a:xfrm>
        </p:spPr>
        <p:txBody>
          <a:bodyPr>
            <a:normAutofit/>
          </a:bodyPr>
          <a:lstStyle/>
          <a:p>
            <a:r>
              <a:rPr lang="en-IN" sz="4000" dirty="0">
                <a:highlight>
                  <a:srgbClr val="FFFFFF"/>
                </a:highlight>
                <a:latin typeface="Arial" panose="020B0604020202020204" pitchFamily="34" charset="0"/>
                <a:cs typeface="Arial" panose="020B0604020202020204" pitchFamily="34" charset="0"/>
              </a:rPr>
              <a:t>2.Core DDPG Algorithm Module</a:t>
            </a:r>
            <a:endParaRPr lang="en-IN" sz="4000" dirty="0"/>
          </a:p>
        </p:txBody>
      </p:sp>
      <p:sp>
        <p:nvSpPr>
          <p:cNvPr id="3" name="Content Placeholder 2">
            <a:extLst>
              <a:ext uri="{FF2B5EF4-FFF2-40B4-BE49-F238E27FC236}">
                <a16:creationId xmlns:a16="http://schemas.microsoft.com/office/drawing/2014/main" id="{DE7B8874-8434-511A-449A-6F3052EC10CA}"/>
              </a:ext>
            </a:extLst>
          </p:cNvPr>
          <p:cNvSpPr>
            <a:spLocks noGrp="1"/>
          </p:cNvSpPr>
          <p:nvPr>
            <p:ph idx="1"/>
          </p:nvPr>
        </p:nvSpPr>
        <p:spPr>
          <a:xfrm>
            <a:off x="693336" y="2108201"/>
            <a:ext cx="10842172" cy="3760891"/>
          </a:xfrm>
        </p:spPr>
        <p:txBody>
          <a:bodyPr>
            <a:normAutofit fontScale="92500" lnSpcReduction="10000"/>
          </a:bodyPr>
          <a:lstStyle/>
          <a:p>
            <a:r>
              <a:rPr lang="en-US" dirty="0"/>
              <a:t>This file constitutes the core implementation of the DDPG algorithm. Its primary purpose is to define and manage the fundamental components required for continuous control reinforcement learning.</a:t>
            </a:r>
            <a:r>
              <a:rPr lang="en-IN" i="1" dirty="0"/>
              <a:t> </a:t>
            </a:r>
          </a:p>
          <a:p>
            <a:r>
              <a:rPr lang="en-IN" dirty="0"/>
              <a:t>This Module contains four core components, each responsible for a specific part of the DDPG algorithm and learning process.</a:t>
            </a:r>
          </a:p>
          <a:p>
            <a:pPr marL="0" indent="0">
              <a:buClr>
                <a:schemeClr val="tx1"/>
              </a:buClr>
              <a:buNone/>
            </a:pPr>
            <a:r>
              <a:rPr lang="en-IN" dirty="0"/>
              <a:t>1.Actor Class – Neural Network for Action Selection</a:t>
            </a:r>
          </a:p>
          <a:p>
            <a:pPr marL="0" indent="0">
              <a:buClr>
                <a:schemeClr val="tx1"/>
              </a:buClr>
              <a:buNone/>
            </a:pPr>
            <a:r>
              <a:rPr lang="en-IN" dirty="0"/>
              <a:t>2.Critic Class – Neural Network for Q-Value Estimation</a:t>
            </a:r>
          </a:p>
          <a:p>
            <a:pPr marL="0" indent="0">
              <a:buClr>
                <a:schemeClr val="tx1"/>
              </a:buClr>
              <a:buNone/>
            </a:pPr>
            <a:r>
              <a:rPr lang="en-IN" dirty="0"/>
              <a:t>3.ReplayBuffer Class – Experience Storage &amp; Sampling System</a:t>
            </a:r>
          </a:p>
          <a:p>
            <a:pPr marL="0" indent="0">
              <a:buClr>
                <a:schemeClr val="tx1"/>
              </a:buClr>
              <a:buNone/>
            </a:pPr>
            <a:r>
              <a:rPr lang="en-IN" dirty="0"/>
              <a:t>4.DDPGAgent Class – Core Learning, Updating &amp; Control Logic</a:t>
            </a:r>
          </a:p>
          <a:p>
            <a:endParaRPr lang="en-US" dirty="0"/>
          </a:p>
          <a:p>
            <a:endParaRPr lang="en-IN" dirty="0"/>
          </a:p>
        </p:txBody>
      </p:sp>
      <p:pic>
        <p:nvPicPr>
          <p:cNvPr id="4" name="Picture 3">
            <a:extLst>
              <a:ext uri="{FF2B5EF4-FFF2-40B4-BE49-F238E27FC236}">
                <a16:creationId xmlns:a16="http://schemas.microsoft.com/office/drawing/2014/main" id="{1E095EA4-579A-6631-C5E4-392F531EABE0}"/>
              </a:ext>
            </a:extLst>
          </p:cNvPr>
          <p:cNvPicPr>
            <a:picLocks noChangeAspect="1"/>
          </p:cNvPicPr>
          <p:nvPr/>
        </p:nvPicPr>
        <p:blipFill>
          <a:blip r:embed="rId3"/>
          <a:stretch>
            <a:fillRect/>
          </a:stretch>
        </p:blipFill>
        <p:spPr>
          <a:xfrm>
            <a:off x="10032511" y="1"/>
            <a:ext cx="2143125" cy="1580444"/>
          </a:xfrm>
          <a:prstGeom prst="rect">
            <a:avLst/>
          </a:prstGeom>
        </p:spPr>
      </p:pic>
    </p:spTree>
    <p:extLst>
      <p:ext uri="{BB962C8B-B14F-4D97-AF65-F5344CB8AC3E}">
        <p14:creationId xmlns:p14="http://schemas.microsoft.com/office/powerpoint/2010/main" val="2385140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Title 22">
            <a:extLst>
              <a:ext uri="{FF2B5EF4-FFF2-40B4-BE49-F238E27FC236}">
                <a16:creationId xmlns:a16="http://schemas.microsoft.com/office/drawing/2014/main" id="{5BCCD6C8-F91D-4A81-8513-B31078BBC009}"/>
              </a:ext>
            </a:extLst>
          </p:cNvPr>
          <p:cNvSpPr>
            <a:spLocks noGrp="1"/>
          </p:cNvSpPr>
          <p:nvPr>
            <p:ph type="title"/>
          </p:nvPr>
        </p:nvSpPr>
        <p:spPr>
          <a:xfrm>
            <a:off x="808382" y="256113"/>
            <a:ext cx="5055706" cy="1017102"/>
          </a:xfrm>
        </p:spPr>
        <p:txBody>
          <a:bodyPr/>
          <a:lstStyle/>
          <a:p>
            <a:pPr algn="ctr"/>
            <a:br>
              <a:rPr lang="en-US" b="1" i="0" cap="all" dirty="0">
                <a:solidFill>
                  <a:srgbClr val="212529"/>
                </a:solidFill>
                <a:effectLst/>
                <a:latin typeface="Encode Sans Condensed"/>
              </a:rPr>
            </a:br>
            <a:endParaRPr lang="en-US" dirty="0"/>
          </a:p>
        </p:txBody>
      </p:sp>
      <p:sp>
        <p:nvSpPr>
          <p:cNvPr id="62" name="Text Placeholder 61">
            <a:extLst>
              <a:ext uri="{FF2B5EF4-FFF2-40B4-BE49-F238E27FC236}">
                <a16:creationId xmlns:a16="http://schemas.microsoft.com/office/drawing/2014/main" id="{F0E231FA-A4C7-4627-A14C-74DA402FD943}"/>
              </a:ext>
            </a:extLst>
          </p:cNvPr>
          <p:cNvSpPr>
            <a:spLocks noGrp="1"/>
          </p:cNvSpPr>
          <p:nvPr>
            <p:ph type="body" sz="quarter" idx="12"/>
          </p:nvPr>
        </p:nvSpPr>
        <p:spPr>
          <a:xfrm>
            <a:off x="937846" y="1456752"/>
            <a:ext cx="5158153" cy="3209033"/>
          </a:xfrm>
        </p:spPr>
        <p:txBody>
          <a:bodyPr/>
          <a:lstStyle/>
          <a:p>
            <a:r>
              <a:rPr lang="en-US"/>
              <a:t>​</a:t>
            </a:r>
            <a:endParaRPr lang="en-US" dirty="0"/>
          </a:p>
        </p:txBody>
      </p:sp>
      <p:sp>
        <p:nvSpPr>
          <p:cNvPr id="99" name="Text Placeholder 98">
            <a:extLst>
              <a:ext uri="{FF2B5EF4-FFF2-40B4-BE49-F238E27FC236}">
                <a16:creationId xmlns:a16="http://schemas.microsoft.com/office/drawing/2014/main" id="{5355A1F3-1DF5-4754-82C7-DBE14DBFAC9A}"/>
              </a:ext>
            </a:extLst>
          </p:cNvPr>
          <p:cNvSpPr>
            <a:spLocks noGrp="1"/>
          </p:cNvSpPr>
          <p:nvPr>
            <p:ph type="body" sz="quarter" idx="17"/>
          </p:nvPr>
        </p:nvSpPr>
        <p:spPr>
          <a:xfrm>
            <a:off x="2102977" y="3031685"/>
            <a:ext cx="3365003" cy="1017102"/>
          </a:xfrm>
        </p:spPr>
        <p:txBody>
          <a:bodyPr/>
          <a:lstStyle/>
          <a:p>
            <a:r>
              <a:rPr lang="en-US" dirty="0"/>
              <a:t>​</a:t>
            </a:r>
          </a:p>
        </p:txBody>
      </p:sp>
      <p:sp>
        <p:nvSpPr>
          <p:cNvPr id="101" name="Text Placeholder 100">
            <a:extLst>
              <a:ext uri="{FF2B5EF4-FFF2-40B4-BE49-F238E27FC236}">
                <a16:creationId xmlns:a16="http://schemas.microsoft.com/office/drawing/2014/main" id="{E67B7AF0-52AF-488F-990C-DB132A565BAD}"/>
              </a:ext>
            </a:extLst>
          </p:cNvPr>
          <p:cNvSpPr>
            <a:spLocks noGrp="1"/>
          </p:cNvSpPr>
          <p:nvPr>
            <p:ph type="body" sz="quarter" idx="19"/>
          </p:nvPr>
        </p:nvSpPr>
        <p:spPr>
          <a:xfrm>
            <a:off x="451310" y="1072343"/>
            <a:ext cx="6668336" cy="5381012"/>
          </a:xfrm>
        </p:spPr>
        <p:txBody>
          <a:bodyPr/>
          <a:lstStyle/>
          <a:p>
            <a:pPr algn="l"/>
            <a:endParaRPr lang="en-US" b="1" i="0" cap="all" dirty="0">
              <a:solidFill>
                <a:srgbClr val="212529"/>
              </a:solidFill>
              <a:effectLst/>
              <a:latin typeface="Encode Sans Condensed"/>
            </a:endParaRPr>
          </a:p>
          <a:p>
            <a:pPr algn="l"/>
            <a:endParaRPr lang="en-ZA" dirty="0"/>
          </a:p>
        </p:txBody>
      </p:sp>
      <p:pic>
        <p:nvPicPr>
          <p:cNvPr id="2" name="Picture 1">
            <a:extLst>
              <a:ext uri="{FF2B5EF4-FFF2-40B4-BE49-F238E27FC236}">
                <a16:creationId xmlns:a16="http://schemas.microsoft.com/office/drawing/2014/main" id="{C1BC2E34-5FB5-02DA-5776-F1AA2797ACC0}"/>
              </a:ext>
            </a:extLst>
          </p:cNvPr>
          <p:cNvPicPr>
            <a:picLocks noChangeAspect="1"/>
          </p:cNvPicPr>
          <p:nvPr/>
        </p:nvPicPr>
        <p:blipFill>
          <a:blip r:embed="rId2"/>
          <a:stretch>
            <a:fillRect/>
          </a:stretch>
        </p:blipFill>
        <p:spPr>
          <a:xfrm>
            <a:off x="10032511" y="1"/>
            <a:ext cx="2143125" cy="1580444"/>
          </a:xfrm>
          <a:prstGeom prst="rect">
            <a:avLst/>
          </a:prstGeom>
        </p:spPr>
      </p:pic>
      <p:pic>
        <p:nvPicPr>
          <p:cNvPr id="6" name="Picture Placeholder 5">
            <a:extLst>
              <a:ext uri="{FF2B5EF4-FFF2-40B4-BE49-F238E27FC236}">
                <a16:creationId xmlns:a16="http://schemas.microsoft.com/office/drawing/2014/main" id="{8C55B3E0-D594-D730-ECDC-EF37DE934422}"/>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30271" r="30271"/>
          <a:stretch/>
        </p:blipFill>
        <p:spPr>
          <a:xfrm>
            <a:off x="7606182" y="0"/>
            <a:ext cx="4585816" cy="6858000"/>
          </a:xfrm>
        </p:spPr>
      </p:pic>
      <p:pic>
        <p:nvPicPr>
          <p:cNvPr id="7" name="Picture 6">
            <a:extLst>
              <a:ext uri="{FF2B5EF4-FFF2-40B4-BE49-F238E27FC236}">
                <a16:creationId xmlns:a16="http://schemas.microsoft.com/office/drawing/2014/main" id="{93939B5F-A8FC-D7D3-6467-724727BE6946}"/>
              </a:ext>
            </a:extLst>
          </p:cNvPr>
          <p:cNvPicPr>
            <a:picLocks noChangeAspect="1"/>
          </p:cNvPicPr>
          <p:nvPr/>
        </p:nvPicPr>
        <p:blipFill>
          <a:blip r:embed="rId2"/>
          <a:stretch>
            <a:fillRect/>
          </a:stretch>
        </p:blipFill>
        <p:spPr>
          <a:xfrm>
            <a:off x="10048875" y="-7362"/>
            <a:ext cx="2143125" cy="1580444"/>
          </a:xfrm>
          <a:prstGeom prst="rect">
            <a:avLst/>
          </a:prstGeom>
        </p:spPr>
      </p:pic>
      <p:sp>
        <p:nvSpPr>
          <p:cNvPr id="4" name="TextBox 3">
            <a:extLst>
              <a:ext uri="{FF2B5EF4-FFF2-40B4-BE49-F238E27FC236}">
                <a16:creationId xmlns:a16="http://schemas.microsoft.com/office/drawing/2014/main" id="{EC8C0983-AF8E-F4E4-7581-7CE8407C7149}"/>
              </a:ext>
            </a:extLst>
          </p:cNvPr>
          <p:cNvSpPr txBox="1"/>
          <p:nvPr/>
        </p:nvSpPr>
        <p:spPr>
          <a:xfrm>
            <a:off x="306328" y="2793353"/>
            <a:ext cx="7082441" cy="1938992"/>
          </a:xfrm>
          <a:prstGeom prst="rect">
            <a:avLst/>
          </a:prstGeom>
          <a:noFill/>
        </p:spPr>
        <p:txBody>
          <a:bodyPr wrap="square">
            <a:spAutoFit/>
          </a:bodyPr>
          <a:lstStyle/>
          <a:p>
            <a:pPr algn="just"/>
            <a:r>
              <a:rPr lang="en-US" sz="2000" dirty="0"/>
              <a:t>This script manages the entire training workflow. It sets up the environment, loops through episodes, collects experience, triggers model updates, logs rewards, and saves training data. </a:t>
            </a:r>
          </a:p>
          <a:p>
            <a:pPr algn="just"/>
            <a:r>
              <a:rPr lang="en-US" sz="2000" dirty="0"/>
              <a:t>This file is responsible for </a:t>
            </a:r>
            <a:r>
              <a:rPr lang="en-US" sz="2000" i="1" dirty="0"/>
              <a:t>teaching</a:t>
            </a:r>
            <a:r>
              <a:rPr lang="en-US" sz="2000" dirty="0"/>
              <a:t> the agent using the DDPG algorithm and generating the final trained models.</a:t>
            </a:r>
          </a:p>
        </p:txBody>
      </p:sp>
      <p:sp>
        <p:nvSpPr>
          <p:cNvPr id="9" name="TextBox 8">
            <a:extLst>
              <a:ext uri="{FF2B5EF4-FFF2-40B4-BE49-F238E27FC236}">
                <a16:creationId xmlns:a16="http://schemas.microsoft.com/office/drawing/2014/main" id="{ADFB9BB2-CCF5-7BBF-76FB-8B2C25A51AEB}"/>
              </a:ext>
            </a:extLst>
          </p:cNvPr>
          <p:cNvSpPr txBox="1"/>
          <p:nvPr/>
        </p:nvSpPr>
        <p:spPr>
          <a:xfrm>
            <a:off x="306328" y="410623"/>
            <a:ext cx="6668336" cy="1323439"/>
          </a:xfrm>
          <a:prstGeom prst="rect">
            <a:avLst/>
          </a:prstGeom>
          <a:noFill/>
        </p:spPr>
        <p:txBody>
          <a:bodyPr wrap="square">
            <a:spAutoFit/>
          </a:bodyPr>
          <a:lstStyle/>
          <a:p>
            <a:r>
              <a:rPr lang="en-IN" sz="4000" dirty="0">
                <a:highlight>
                  <a:srgbClr val="FFFFFF"/>
                </a:highlight>
                <a:latin typeface="Arial" panose="020B0604020202020204" pitchFamily="34" charset="0"/>
                <a:cs typeface="Arial" panose="020B0604020202020204" pitchFamily="34" charset="0"/>
              </a:rPr>
              <a:t>3.Model Training, Logging &amp; Saving Module</a:t>
            </a:r>
            <a:endParaRPr lang="en-IN" sz="4000" dirty="0"/>
          </a:p>
        </p:txBody>
      </p:sp>
    </p:spTree>
    <p:extLst>
      <p:ext uri="{BB962C8B-B14F-4D97-AF65-F5344CB8AC3E}">
        <p14:creationId xmlns:p14="http://schemas.microsoft.com/office/powerpoint/2010/main" val="2316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E03AE-7485-88AF-22E6-27EBDB88E5DB}"/>
              </a:ext>
            </a:extLst>
          </p:cNvPr>
          <p:cNvSpPr>
            <a:spLocks noGrp="1"/>
          </p:cNvSpPr>
          <p:nvPr>
            <p:ph type="title"/>
          </p:nvPr>
        </p:nvSpPr>
        <p:spPr>
          <a:xfrm>
            <a:off x="243170" y="64844"/>
            <a:ext cx="10058400" cy="1450757"/>
          </a:xfrm>
        </p:spPr>
        <p:txBody>
          <a:bodyPr>
            <a:normAutofit/>
          </a:bodyPr>
          <a:lstStyle/>
          <a:p>
            <a:r>
              <a:rPr lang="en-IN" sz="4000" dirty="0">
                <a:highlight>
                  <a:srgbClr val="FFFFFF"/>
                </a:highlight>
                <a:latin typeface="Arial" panose="020B0604020202020204" pitchFamily="34" charset="0"/>
                <a:cs typeface="Arial" panose="020B0604020202020204" pitchFamily="34" charset="0"/>
              </a:rPr>
              <a:t>Model Files (.</a:t>
            </a:r>
            <a:r>
              <a:rPr lang="en-IN" sz="4000" dirty="0" err="1">
                <a:highlight>
                  <a:srgbClr val="FFFFFF"/>
                </a:highlight>
                <a:latin typeface="Arial" panose="020B0604020202020204" pitchFamily="34" charset="0"/>
                <a:cs typeface="Arial" panose="020B0604020202020204" pitchFamily="34" charset="0"/>
              </a:rPr>
              <a:t>pth</a:t>
            </a:r>
            <a:r>
              <a:rPr lang="en-IN" sz="4000" dirty="0">
                <a:highlight>
                  <a:srgbClr val="FFFFFF"/>
                </a:highlight>
                <a:latin typeface="Arial" panose="020B0604020202020204" pitchFamily="34" charset="0"/>
                <a:cs typeface="Arial" panose="020B0604020202020204" pitchFamily="34" charset="0"/>
              </a:rPr>
              <a:t>) – Saved Actor &amp; Critic Weights</a:t>
            </a:r>
            <a:endParaRPr lang="en-IN" sz="4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70DFFB9-69EE-A501-FF00-1EBB0288E04B}"/>
              </a:ext>
            </a:extLst>
          </p:cNvPr>
          <p:cNvSpPr>
            <a:spLocks noGrp="1"/>
          </p:cNvSpPr>
          <p:nvPr>
            <p:ph idx="1"/>
          </p:nvPr>
        </p:nvSpPr>
        <p:spPr>
          <a:xfrm>
            <a:off x="243170" y="2007724"/>
            <a:ext cx="8418509" cy="4552758"/>
          </a:xfrm>
        </p:spPr>
        <p:txBody>
          <a:bodyPr>
            <a:normAutofit/>
          </a:bodyPr>
          <a:lstStyle/>
          <a:p>
            <a:r>
              <a:rPr lang="en-US" b="1" dirty="0" err="1"/>
              <a:t>ddpg_actor.pth</a:t>
            </a:r>
            <a:r>
              <a:rPr lang="en-US" b="1" dirty="0"/>
              <a:t> – The Learned Decision-Making Mind</a:t>
            </a:r>
          </a:p>
          <a:p>
            <a:pPr algn="just"/>
            <a:r>
              <a:rPr lang="en-US" dirty="0"/>
              <a:t>This file stores the fully trained Actor neural network, it is responsible for choosing continuous actions (thrust values) based on the lander’s current state. It represents the agent’s final policy — the actual “brain” that decides </a:t>
            </a:r>
            <a:r>
              <a:rPr lang="en-US" i="1" dirty="0"/>
              <a:t>how to land</a:t>
            </a:r>
            <a:r>
              <a:rPr lang="en-US" dirty="0"/>
              <a:t> after thousands of training steps.</a:t>
            </a:r>
          </a:p>
          <a:p>
            <a:r>
              <a:rPr lang="en-US" b="1" dirty="0" err="1"/>
              <a:t>ddpg_critic.pth</a:t>
            </a:r>
            <a:r>
              <a:rPr lang="en-US" b="1" dirty="0"/>
              <a:t> – The Value Estimation Engine</a:t>
            </a:r>
          </a:p>
          <a:p>
            <a:pPr algn="just"/>
            <a:r>
              <a:rPr lang="en-US" dirty="0"/>
              <a:t>This file contains the trained Critic network, which evaluates how good a particular state–action pair is. Think of this as the </a:t>
            </a:r>
            <a:r>
              <a:rPr lang="en-US" i="1" dirty="0"/>
              <a:t>internal judge</a:t>
            </a:r>
            <a:r>
              <a:rPr lang="en-US" dirty="0"/>
              <a:t> that helped shape the lander’s decision-making ability.</a:t>
            </a:r>
          </a:p>
          <a:p>
            <a:br>
              <a:rPr lang="en-US" dirty="0"/>
            </a:br>
            <a:endParaRPr lang="en-IN" dirty="0"/>
          </a:p>
        </p:txBody>
      </p:sp>
      <p:pic>
        <p:nvPicPr>
          <p:cNvPr id="4" name="Picture 3">
            <a:extLst>
              <a:ext uri="{FF2B5EF4-FFF2-40B4-BE49-F238E27FC236}">
                <a16:creationId xmlns:a16="http://schemas.microsoft.com/office/drawing/2014/main" id="{30E30BD0-EA4F-5EA9-D13F-CEB5EDBA0C0B}"/>
              </a:ext>
            </a:extLst>
          </p:cNvPr>
          <p:cNvPicPr>
            <a:picLocks noChangeAspect="1"/>
          </p:cNvPicPr>
          <p:nvPr/>
        </p:nvPicPr>
        <p:blipFill>
          <a:blip r:embed="rId2"/>
          <a:stretch>
            <a:fillRect/>
          </a:stretch>
        </p:blipFill>
        <p:spPr>
          <a:xfrm>
            <a:off x="10032511" y="1"/>
            <a:ext cx="2143125" cy="1580444"/>
          </a:xfrm>
          <a:prstGeom prst="rect">
            <a:avLst/>
          </a:prstGeom>
        </p:spPr>
      </p:pic>
      <p:pic>
        <p:nvPicPr>
          <p:cNvPr id="6" name="Picture 5">
            <a:extLst>
              <a:ext uri="{FF2B5EF4-FFF2-40B4-BE49-F238E27FC236}">
                <a16:creationId xmlns:a16="http://schemas.microsoft.com/office/drawing/2014/main" id="{2EA65CC7-6CD4-8268-24B2-65B433C208AC}"/>
              </a:ext>
            </a:extLst>
          </p:cNvPr>
          <p:cNvPicPr>
            <a:picLocks noChangeAspect="1"/>
          </p:cNvPicPr>
          <p:nvPr/>
        </p:nvPicPr>
        <p:blipFill>
          <a:blip r:embed="rId3"/>
          <a:stretch>
            <a:fillRect/>
          </a:stretch>
        </p:blipFill>
        <p:spPr>
          <a:xfrm>
            <a:off x="8805094" y="2979708"/>
            <a:ext cx="3143736" cy="2345327"/>
          </a:xfrm>
          <a:prstGeom prst="rect">
            <a:avLst/>
          </a:prstGeom>
        </p:spPr>
      </p:pic>
    </p:spTree>
    <p:extLst>
      <p:ext uri="{BB962C8B-B14F-4D97-AF65-F5344CB8AC3E}">
        <p14:creationId xmlns:p14="http://schemas.microsoft.com/office/powerpoint/2010/main" val="2825280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3CD71-70EF-F0A6-9677-91E362E4F342}"/>
              </a:ext>
            </a:extLst>
          </p:cNvPr>
          <p:cNvSpPr>
            <a:spLocks noGrp="1"/>
          </p:cNvSpPr>
          <p:nvPr>
            <p:ph type="title"/>
          </p:nvPr>
        </p:nvSpPr>
        <p:spPr>
          <a:xfrm>
            <a:off x="424040" y="657444"/>
            <a:ext cx="10058400" cy="1450757"/>
          </a:xfrm>
        </p:spPr>
        <p:txBody>
          <a:bodyPr>
            <a:normAutofit fontScale="90000"/>
          </a:bodyPr>
          <a:lstStyle/>
          <a:p>
            <a:r>
              <a:rPr lang="en-IN" sz="4400" dirty="0">
                <a:highlight>
                  <a:srgbClr val="FFFFFF"/>
                </a:highlight>
                <a:latin typeface="Arial" panose="020B0604020202020204" pitchFamily="34" charset="0"/>
                <a:cs typeface="Arial" panose="020B0604020202020204" pitchFamily="34" charset="0"/>
              </a:rPr>
              <a:t>Training Log Files – Rewards &amp; Step-wise Parameters</a:t>
            </a:r>
            <a:br>
              <a:rPr lang="en-IN" sz="4800" dirty="0">
                <a:highlight>
                  <a:srgbClr val="FFFFFF"/>
                </a:highlight>
              </a:rPr>
            </a:br>
            <a:endParaRPr lang="en-IN" dirty="0"/>
          </a:p>
        </p:txBody>
      </p:sp>
      <p:sp>
        <p:nvSpPr>
          <p:cNvPr id="3" name="Content Placeholder 2">
            <a:extLst>
              <a:ext uri="{FF2B5EF4-FFF2-40B4-BE49-F238E27FC236}">
                <a16:creationId xmlns:a16="http://schemas.microsoft.com/office/drawing/2014/main" id="{C00A37BE-FCCB-6FB9-E46B-AF766222A331}"/>
              </a:ext>
            </a:extLst>
          </p:cNvPr>
          <p:cNvSpPr>
            <a:spLocks noGrp="1"/>
          </p:cNvSpPr>
          <p:nvPr>
            <p:ph idx="1"/>
          </p:nvPr>
        </p:nvSpPr>
        <p:spPr>
          <a:xfrm>
            <a:off x="260661" y="2108201"/>
            <a:ext cx="7684980" cy="4221163"/>
          </a:xfrm>
        </p:spPr>
        <p:txBody>
          <a:bodyPr>
            <a:normAutofit/>
          </a:bodyPr>
          <a:lstStyle/>
          <a:p>
            <a:r>
              <a:rPr lang="en-US" b="1" dirty="0"/>
              <a:t>Training Log Files ddpg_training_rewards.txt </a:t>
            </a:r>
          </a:p>
          <a:p>
            <a:pPr algn="just"/>
            <a:r>
              <a:rPr lang="en-US" dirty="0"/>
              <a:t>A simple but essential log that stores the total reward earned in every episode. It allows you to plot the Reward vs Episodes graph.</a:t>
            </a:r>
          </a:p>
          <a:p>
            <a:r>
              <a:rPr lang="en-US" b="1" dirty="0" err="1"/>
              <a:t>ddpg_training_data.json</a:t>
            </a:r>
            <a:r>
              <a:rPr lang="en-US" b="1" dirty="0"/>
              <a:t> </a:t>
            </a:r>
          </a:p>
          <a:p>
            <a:pPr algn="just"/>
            <a:r>
              <a:rPr lang="en-US" dirty="0"/>
              <a:t>This JSON file records step-by-step details of each episode: position, velocity, angle, thrust commands, and other key variables. It is used for deep analysis to understand </a:t>
            </a:r>
            <a:r>
              <a:rPr lang="en-US" i="1" dirty="0"/>
              <a:t>how</a:t>
            </a:r>
            <a:r>
              <a:rPr lang="en-US" dirty="0"/>
              <a:t> the agent behaved, why it succeeded or failed, and how its actions evolved over time.</a:t>
            </a:r>
          </a:p>
          <a:p>
            <a:endParaRPr lang="en-IN" dirty="0"/>
          </a:p>
        </p:txBody>
      </p:sp>
      <p:pic>
        <p:nvPicPr>
          <p:cNvPr id="4" name="Picture 3">
            <a:extLst>
              <a:ext uri="{FF2B5EF4-FFF2-40B4-BE49-F238E27FC236}">
                <a16:creationId xmlns:a16="http://schemas.microsoft.com/office/drawing/2014/main" id="{DDD5B85F-4F8C-8CEF-B9D5-05ED03346142}"/>
              </a:ext>
            </a:extLst>
          </p:cNvPr>
          <p:cNvPicPr>
            <a:picLocks noChangeAspect="1"/>
          </p:cNvPicPr>
          <p:nvPr/>
        </p:nvPicPr>
        <p:blipFill>
          <a:blip r:embed="rId2"/>
          <a:stretch>
            <a:fillRect/>
          </a:stretch>
        </p:blipFill>
        <p:spPr>
          <a:xfrm>
            <a:off x="10032511" y="1"/>
            <a:ext cx="2143125" cy="1580444"/>
          </a:xfrm>
          <a:prstGeom prst="rect">
            <a:avLst/>
          </a:prstGeom>
        </p:spPr>
      </p:pic>
      <p:pic>
        <p:nvPicPr>
          <p:cNvPr id="6" name="Picture 5">
            <a:extLst>
              <a:ext uri="{FF2B5EF4-FFF2-40B4-BE49-F238E27FC236}">
                <a16:creationId xmlns:a16="http://schemas.microsoft.com/office/drawing/2014/main" id="{95D88550-3C50-0EC4-8B9D-DCCA1B0DF7B1}"/>
              </a:ext>
            </a:extLst>
          </p:cNvPr>
          <p:cNvPicPr>
            <a:picLocks noChangeAspect="1"/>
          </p:cNvPicPr>
          <p:nvPr/>
        </p:nvPicPr>
        <p:blipFill>
          <a:blip r:embed="rId3"/>
          <a:stretch>
            <a:fillRect/>
          </a:stretch>
        </p:blipFill>
        <p:spPr>
          <a:xfrm>
            <a:off x="8088850" y="2765644"/>
            <a:ext cx="4103150" cy="3028203"/>
          </a:xfrm>
          <a:prstGeom prst="rect">
            <a:avLst/>
          </a:prstGeom>
        </p:spPr>
      </p:pic>
    </p:spTree>
    <p:extLst>
      <p:ext uri="{BB962C8B-B14F-4D97-AF65-F5344CB8AC3E}">
        <p14:creationId xmlns:p14="http://schemas.microsoft.com/office/powerpoint/2010/main" val="2905385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056C4-D69E-6FF0-956B-D859AAFBA721}"/>
              </a:ext>
            </a:extLst>
          </p:cNvPr>
          <p:cNvSpPr>
            <a:spLocks noGrp="1"/>
          </p:cNvSpPr>
          <p:nvPr>
            <p:ph type="title"/>
          </p:nvPr>
        </p:nvSpPr>
        <p:spPr>
          <a:xfrm>
            <a:off x="564718" y="593106"/>
            <a:ext cx="10058400" cy="1450757"/>
          </a:xfrm>
        </p:spPr>
        <p:txBody>
          <a:bodyPr>
            <a:normAutofit/>
          </a:bodyPr>
          <a:lstStyle/>
          <a:p>
            <a:r>
              <a:rPr lang="en-US" sz="4000" dirty="0">
                <a:latin typeface="Arial" panose="020B0604020202020204" pitchFamily="34" charset="0"/>
                <a:cs typeface="Arial" panose="020B0604020202020204" pitchFamily="34" charset="0"/>
              </a:rPr>
              <a:t>4.The Final Flight Demonstration Module</a:t>
            </a:r>
            <a:br>
              <a:rPr lang="en-US" b="1" dirty="0"/>
            </a:br>
            <a:endParaRPr lang="en-IN" dirty="0"/>
          </a:p>
        </p:txBody>
      </p:sp>
      <p:sp>
        <p:nvSpPr>
          <p:cNvPr id="3" name="Content Placeholder 2">
            <a:extLst>
              <a:ext uri="{FF2B5EF4-FFF2-40B4-BE49-F238E27FC236}">
                <a16:creationId xmlns:a16="http://schemas.microsoft.com/office/drawing/2014/main" id="{447F1988-4760-FE3F-E312-CD778B317136}"/>
              </a:ext>
            </a:extLst>
          </p:cNvPr>
          <p:cNvSpPr>
            <a:spLocks noGrp="1"/>
          </p:cNvSpPr>
          <p:nvPr>
            <p:ph idx="1"/>
          </p:nvPr>
        </p:nvSpPr>
        <p:spPr>
          <a:xfrm>
            <a:off x="976699" y="2604486"/>
            <a:ext cx="10058400" cy="3760891"/>
          </a:xfrm>
        </p:spPr>
        <p:txBody>
          <a:bodyPr/>
          <a:lstStyle/>
          <a:p>
            <a:pPr algn="just"/>
            <a:r>
              <a:rPr lang="en-US" dirty="0"/>
              <a:t>This file loads the trained models and runs the LunarLanderContinuous-v3 environment in human-render mode. It shows the final behavior of the agent, tracks total reward, and displays landing success. This script acts as the </a:t>
            </a:r>
            <a:r>
              <a:rPr lang="en-US" i="1" dirty="0"/>
              <a:t>performance demo</a:t>
            </a:r>
            <a:r>
              <a:rPr lang="en-US" dirty="0"/>
              <a:t>, visually proving that the lander can descend and touch down safely.</a:t>
            </a:r>
          </a:p>
          <a:p>
            <a:endParaRPr lang="en-IN" dirty="0"/>
          </a:p>
        </p:txBody>
      </p:sp>
      <p:pic>
        <p:nvPicPr>
          <p:cNvPr id="4" name="Picture 3">
            <a:extLst>
              <a:ext uri="{FF2B5EF4-FFF2-40B4-BE49-F238E27FC236}">
                <a16:creationId xmlns:a16="http://schemas.microsoft.com/office/drawing/2014/main" id="{907F93BB-CB05-3050-6558-049F20AF7C50}"/>
              </a:ext>
            </a:extLst>
          </p:cNvPr>
          <p:cNvPicPr>
            <a:picLocks noChangeAspect="1"/>
          </p:cNvPicPr>
          <p:nvPr/>
        </p:nvPicPr>
        <p:blipFill>
          <a:blip r:embed="rId2"/>
          <a:stretch>
            <a:fillRect/>
          </a:stretch>
        </p:blipFill>
        <p:spPr>
          <a:xfrm>
            <a:off x="10048875" y="0"/>
            <a:ext cx="2143125" cy="1758461"/>
          </a:xfrm>
          <a:prstGeom prst="rect">
            <a:avLst/>
          </a:prstGeom>
        </p:spPr>
      </p:pic>
    </p:spTree>
    <p:extLst>
      <p:ext uri="{BB962C8B-B14F-4D97-AF65-F5344CB8AC3E}">
        <p14:creationId xmlns:p14="http://schemas.microsoft.com/office/powerpoint/2010/main" val="175554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25" name="Straight Connector 24">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27" name="Rectangle 26">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9919"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5" name="Title 1">
            <a:extLst>
              <a:ext uri="{FF2B5EF4-FFF2-40B4-BE49-F238E27FC236}">
                <a16:creationId xmlns:a16="http://schemas.microsoft.com/office/drawing/2014/main" id="{85D3FDBA-3990-6D3D-B33F-DE6488F6A604}"/>
              </a:ext>
            </a:extLst>
          </p:cNvPr>
          <p:cNvSpPr>
            <a:spLocks noGrp="1"/>
          </p:cNvSpPr>
          <p:nvPr>
            <p:ph type="title"/>
          </p:nvPr>
        </p:nvSpPr>
        <p:spPr>
          <a:xfrm>
            <a:off x="147290" y="1105318"/>
            <a:ext cx="3672714" cy="2883869"/>
          </a:xfrm>
        </p:spPr>
        <p:txBody>
          <a:bodyPr vert="horz" lIns="91440" tIns="45720" rIns="91440" bIns="45720" rtlCol="0" anchor="b">
            <a:normAutofit fontScale="90000"/>
          </a:bodyPr>
          <a:lstStyle/>
          <a:p>
            <a:br>
              <a:rPr lang="en-US" sz="3400" spc="-50" dirty="0">
                <a:solidFill>
                  <a:srgbClr val="FFFFFF"/>
                </a:solidFill>
              </a:rPr>
            </a:br>
            <a:r>
              <a:rPr lang="en-US" sz="3400" spc="-50" dirty="0">
                <a:solidFill>
                  <a:schemeClr val="accent1">
                    <a:lumMod val="75000"/>
                  </a:schemeClr>
                </a:solidFill>
              </a:rPr>
              <a:t>Lunar</a:t>
            </a:r>
            <a:r>
              <a:rPr lang="en-US" sz="3400" spc="-50" dirty="0">
                <a:solidFill>
                  <a:srgbClr val="FFFFFF"/>
                </a:solidFill>
              </a:rPr>
              <a:t> </a:t>
            </a:r>
            <a:r>
              <a:rPr lang="en-IN" sz="3600" dirty="0"/>
              <a:t>Lander  Descent Visualization Output</a:t>
            </a:r>
            <a:br>
              <a:rPr lang="en-US" sz="3400" spc="-50" dirty="0">
                <a:solidFill>
                  <a:srgbClr val="FFFFFF"/>
                </a:solidFill>
              </a:rPr>
            </a:br>
            <a:endParaRPr lang="en-US" sz="3400" spc="-50" dirty="0">
              <a:solidFill>
                <a:srgbClr val="FFFFFF"/>
              </a:solidFill>
            </a:endParaRPr>
          </a:p>
        </p:txBody>
      </p:sp>
      <p:cxnSp>
        <p:nvCxnSpPr>
          <p:cNvPr id="31" name="Straight Connector 30">
            <a:extLst>
              <a:ext uri="{FF2B5EF4-FFF2-40B4-BE49-F238E27FC236}">
                <a16:creationId xmlns:a16="http://schemas.microsoft.com/office/drawing/2014/main" id="{E04A321A-A039-4720-87B4-66A4210E0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1752" y="2638787"/>
            <a:ext cx="27432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Picture 1" descr="A screenshot of a computer&#10;&#10;AI-generated content may be incorrect.">
            <a:extLst>
              <a:ext uri="{FF2B5EF4-FFF2-40B4-BE49-F238E27FC236}">
                <a16:creationId xmlns:a16="http://schemas.microsoft.com/office/drawing/2014/main" id="{8A2DB7C8-4576-0BAF-AC77-13E0A5F797CB}"/>
              </a:ext>
            </a:extLst>
          </p:cNvPr>
          <p:cNvPicPr>
            <a:picLocks noChangeAspect="1"/>
          </p:cNvPicPr>
          <p:nvPr/>
        </p:nvPicPr>
        <p:blipFill>
          <a:blip r:embed="rId2">
            <a:extLst>
              <a:ext uri="{28A0092B-C50C-407E-A947-70E740481C1C}">
                <a14:useLocalDpi xmlns:a14="http://schemas.microsoft.com/office/drawing/2010/main" val="0"/>
              </a:ext>
            </a:extLst>
          </a:blip>
          <a:srcRect l="3607" t="3734" r="12636" b="5707"/>
          <a:stretch>
            <a:fillRect/>
          </a:stretch>
        </p:blipFill>
        <p:spPr>
          <a:xfrm>
            <a:off x="7606689" y="3364368"/>
            <a:ext cx="4248472" cy="3192503"/>
          </a:xfrm>
          <a:prstGeom prst="rect">
            <a:avLst/>
          </a:prstGeom>
        </p:spPr>
      </p:pic>
      <p:pic>
        <p:nvPicPr>
          <p:cNvPr id="9" name="Picture 8">
            <a:extLst>
              <a:ext uri="{FF2B5EF4-FFF2-40B4-BE49-F238E27FC236}">
                <a16:creationId xmlns:a16="http://schemas.microsoft.com/office/drawing/2014/main" id="{20474CB3-9714-CB93-95B7-4512E63F93D3}"/>
              </a:ext>
            </a:extLst>
          </p:cNvPr>
          <p:cNvPicPr>
            <a:picLocks noChangeAspect="1"/>
          </p:cNvPicPr>
          <p:nvPr/>
        </p:nvPicPr>
        <p:blipFill>
          <a:blip r:embed="rId3"/>
          <a:stretch>
            <a:fillRect/>
          </a:stretch>
        </p:blipFill>
        <p:spPr>
          <a:xfrm>
            <a:off x="0" y="0"/>
            <a:ext cx="4378362" cy="6858000"/>
          </a:xfrm>
          <a:prstGeom prst="rect">
            <a:avLst/>
          </a:prstGeom>
        </p:spPr>
      </p:pic>
      <p:pic>
        <p:nvPicPr>
          <p:cNvPr id="14" name="Picture 13">
            <a:extLst>
              <a:ext uri="{FF2B5EF4-FFF2-40B4-BE49-F238E27FC236}">
                <a16:creationId xmlns:a16="http://schemas.microsoft.com/office/drawing/2014/main" id="{5BD3834E-1494-246D-D74F-FCB509DB87AD}"/>
              </a:ext>
            </a:extLst>
          </p:cNvPr>
          <p:cNvPicPr>
            <a:picLocks noChangeAspect="1"/>
          </p:cNvPicPr>
          <p:nvPr/>
        </p:nvPicPr>
        <p:blipFill>
          <a:blip r:embed="rId4"/>
          <a:stretch>
            <a:fillRect/>
          </a:stretch>
        </p:blipFill>
        <p:spPr>
          <a:xfrm>
            <a:off x="4484397" y="251211"/>
            <a:ext cx="4118977" cy="2949188"/>
          </a:xfrm>
          <a:prstGeom prst="rect">
            <a:avLst/>
          </a:prstGeom>
        </p:spPr>
      </p:pic>
      <p:pic>
        <p:nvPicPr>
          <p:cNvPr id="3" name="Picture 2">
            <a:extLst>
              <a:ext uri="{FF2B5EF4-FFF2-40B4-BE49-F238E27FC236}">
                <a16:creationId xmlns:a16="http://schemas.microsoft.com/office/drawing/2014/main" id="{405644AC-7E30-B1EE-0B64-F51B8E51678D}"/>
              </a:ext>
            </a:extLst>
          </p:cNvPr>
          <p:cNvPicPr>
            <a:picLocks noChangeAspect="1"/>
          </p:cNvPicPr>
          <p:nvPr/>
        </p:nvPicPr>
        <p:blipFill>
          <a:blip r:embed="rId5"/>
          <a:stretch>
            <a:fillRect/>
          </a:stretch>
        </p:blipFill>
        <p:spPr>
          <a:xfrm>
            <a:off x="10048875" y="0"/>
            <a:ext cx="2143125" cy="1758461"/>
          </a:xfrm>
          <a:prstGeom prst="rect">
            <a:avLst/>
          </a:prstGeom>
        </p:spPr>
      </p:pic>
    </p:spTree>
    <p:extLst>
      <p:ext uri="{BB962C8B-B14F-4D97-AF65-F5344CB8AC3E}">
        <p14:creationId xmlns:p14="http://schemas.microsoft.com/office/powerpoint/2010/main" val="2174002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7597C-34F0-FE07-87B5-4FF6DD3CAB7F}"/>
              </a:ext>
            </a:extLst>
          </p:cNvPr>
          <p:cNvSpPr>
            <a:spLocks noGrp="1"/>
          </p:cNvSpPr>
          <p:nvPr>
            <p:ph type="title"/>
          </p:nvPr>
        </p:nvSpPr>
        <p:spPr>
          <a:xfrm>
            <a:off x="585337" y="265238"/>
            <a:ext cx="9463538" cy="1493223"/>
          </a:xfrm>
        </p:spPr>
        <p:txBody>
          <a:bodyPr>
            <a:normAutofit fontScale="90000"/>
          </a:bodyPr>
          <a:lstStyle/>
          <a:p>
            <a:r>
              <a:rPr lang="en-US" sz="4000" b="1" dirty="0"/>
              <a:t> </a:t>
            </a:r>
            <a:br>
              <a:rPr lang="en-US" sz="4000" b="1" dirty="0"/>
            </a:br>
            <a:br>
              <a:rPr lang="en-IN" sz="4800" dirty="0">
                <a:highlight>
                  <a:srgbClr val="FFFFFF"/>
                </a:highlight>
              </a:rPr>
            </a:br>
            <a:br>
              <a:rPr lang="en-US" b="1" dirty="0"/>
            </a:br>
            <a:r>
              <a:rPr lang="en-US" sz="4000" dirty="0">
                <a:latin typeface="Arial" panose="020B0604020202020204" pitchFamily="34" charset="0"/>
                <a:cs typeface="Arial" panose="020B0604020202020204" pitchFamily="34" charset="0"/>
              </a:rPr>
              <a:t>5.</a:t>
            </a:r>
            <a:r>
              <a:rPr lang="en-IN" sz="4000" dirty="0">
                <a:highlight>
                  <a:srgbClr val="FFFFFF"/>
                </a:highlight>
                <a:latin typeface="Arial" panose="020B0604020202020204" pitchFamily="34" charset="0"/>
                <a:cs typeface="Arial" panose="020B0604020202020204" pitchFamily="34" charset="0"/>
              </a:rPr>
              <a:t>Graphical Visualization of Rewards &amp; Parameters Module</a:t>
            </a:r>
            <a:endParaRPr lang="en-IN" sz="4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490230B-56C0-C943-6285-2F937874DF14}"/>
              </a:ext>
            </a:extLst>
          </p:cNvPr>
          <p:cNvSpPr>
            <a:spLocks noGrp="1"/>
          </p:cNvSpPr>
          <p:nvPr>
            <p:ph idx="1"/>
          </p:nvPr>
        </p:nvSpPr>
        <p:spPr>
          <a:xfrm>
            <a:off x="876216" y="2520184"/>
            <a:ext cx="10058400" cy="3760891"/>
          </a:xfrm>
        </p:spPr>
        <p:txBody>
          <a:bodyPr/>
          <a:lstStyle/>
          <a:p>
            <a:r>
              <a:rPr lang="en-US" dirty="0"/>
              <a:t>This section of the project  analyses all training logs and visualizes how learning progressed. It plots reward curves, action patterns, lander trajectories, and behavior metrics. This file helps interpret the agent's learning process and gives a deeper understanding of how the policy improved over time.</a:t>
            </a:r>
          </a:p>
          <a:p>
            <a:endParaRPr lang="en-IN" dirty="0"/>
          </a:p>
        </p:txBody>
      </p:sp>
      <p:pic>
        <p:nvPicPr>
          <p:cNvPr id="4" name="Picture 3">
            <a:extLst>
              <a:ext uri="{FF2B5EF4-FFF2-40B4-BE49-F238E27FC236}">
                <a16:creationId xmlns:a16="http://schemas.microsoft.com/office/drawing/2014/main" id="{DB5F81F0-CE33-99F6-7876-6539758DF5E2}"/>
              </a:ext>
            </a:extLst>
          </p:cNvPr>
          <p:cNvPicPr>
            <a:picLocks noChangeAspect="1"/>
          </p:cNvPicPr>
          <p:nvPr/>
        </p:nvPicPr>
        <p:blipFill>
          <a:blip r:embed="rId2"/>
          <a:stretch>
            <a:fillRect/>
          </a:stretch>
        </p:blipFill>
        <p:spPr>
          <a:xfrm>
            <a:off x="10048875" y="0"/>
            <a:ext cx="2143125" cy="1758461"/>
          </a:xfrm>
          <a:prstGeom prst="rect">
            <a:avLst/>
          </a:prstGeom>
        </p:spPr>
      </p:pic>
    </p:spTree>
    <p:extLst>
      <p:ext uri="{BB962C8B-B14F-4D97-AF65-F5344CB8AC3E}">
        <p14:creationId xmlns:p14="http://schemas.microsoft.com/office/powerpoint/2010/main" val="332547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37" name="Straight Connector 36">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E844E128-FF69-4E9F-8327-6B504B3C5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 y="0"/>
            <a:ext cx="12191985"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4" name="Title 13">
            <a:extLst>
              <a:ext uri="{FF2B5EF4-FFF2-40B4-BE49-F238E27FC236}">
                <a16:creationId xmlns:a16="http://schemas.microsoft.com/office/drawing/2014/main" id="{4CD4EC34-A56A-4AFF-967C-7826E8491850}"/>
              </a:ext>
            </a:extLst>
          </p:cNvPr>
          <p:cNvSpPr>
            <a:spLocks noGrp="1"/>
          </p:cNvSpPr>
          <p:nvPr>
            <p:ph type="title"/>
          </p:nvPr>
        </p:nvSpPr>
        <p:spPr>
          <a:xfrm>
            <a:off x="254427" y="285452"/>
            <a:ext cx="3583439" cy="2137086"/>
          </a:xfrm>
        </p:spPr>
        <p:txBody>
          <a:bodyPr vert="horz" lIns="91440" tIns="45720" rIns="91440" bIns="45720" rtlCol="0" anchor="b">
            <a:noAutofit/>
          </a:bodyPr>
          <a:lstStyle/>
          <a:p>
            <a:pPr algn="ctr"/>
            <a:r>
              <a:rPr lang="en-US" sz="3200" dirty="0">
                <a:solidFill>
                  <a:schemeClr val="tx1"/>
                </a:solidFill>
                <a:latin typeface="Arial" panose="020B0604020202020204" pitchFamily="34" charset="0"/>
                <a:cs typeface="Arial" panose="020B0604020202020204" pitchFamily="34" charset="0"/>
              </a:rPr>
              <a:t>Thrust, Velocity &amp; Reward Parameter Analysis</a:t>
            </a:r>
            <a:endParaRPr lang="en-US" sz="3200" spc="-50" dirty="0">
              <a:solidFill>
                <a:schemeClr val="tx1"/>
              </a:solidFill>
              <a:latin typeface="Arial" panose="020B0604020202020204" pitchFamily="34" charset="0"/>
              <a:cs typeface="Arial" panose="020B0604020202020204" pitchFamily="34" charset="0"/>
            </a:endParaRPr>
          </a:p>
        </p:txBody>
      </p:sp>
      <p:cxnSp>
        <p:nvCxnSpPr>
          <p:cNvPr id="39" name="Straight Connector 38">
            <a:extLst>
              <a:ext uri="{FF2B5EF4-FFF2-40B4-BE49-F238E27FC236}">
                <a16:creationId xmlns:a16="http://schemas.microsoft.com/office/drawing/2014/main" id="{055CEADF-09EA-423C-8C45-F94AF44D5A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686" y="2538728"/>
            <a:ext cx="283464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5E54624D-C5D3-BCD8-A4EF-97964437F0FB}"/>
              </a:ext>
            </a:extLst>
          </p:cNvPr>
          <p:cNvPicPr>
            <a:picLocks noChangeAspect="1"/>
          </p:cNvPicPr>
          <p:nvPr/>
        </p:nvPicPr>
        <p:blipFill>
          <a:blip r:embed="rId3"/>
          <a:stretch>
            <a:fillRect/>
          </a:stretch>
        </p:blipFill>
        <p:spPr>
          <a:xfrm>
            <a:off x="4092277" y="299421"/>
            <a:ext cx="3786667" cy="2900980"/>
          </a:xfrm>
          <a:prstGeom prst="rect">
            <a:avLst/>
          </a:prstGeom>
        </p:spPr>
      </p:pic>
      <p:pic>
        <p:nvPicPr>
          <p:cNvPr id="10" name="Picture 9">
            <a:extLst>
              <a:ext uri="{FF2B5EF4-FFF2-40B4-BE49-F238E27FC236}">
                <a16:creationId xmlns:a16="http://schemas.microsoft.com/office/drawing/2014/main" id="{8E4FC731-0530-B157-1086-40FD85F65AAC}"/>
              </a:ext>
            </a:extLst>
          </p:cNvPr>
          <p:cNvPicPr>
            <a:picLocks noChangeAspect="1"/>
          </p:cNvPicPr>
          <p:nvPr/>
        </p:nvPicPr>
        <p:blipFill>
          <a:blip r:embed="rId4"/>
          <a:stretch>
            <a:fillRect/>
          </a:stretch>
        </p:blipFill>
        <p:spPr>
          <a:xfrm>
            <a:off x="1870633" y="3470187"/>
            <a:ext cx="9966960" cy="3180373"/>
          </a:xfrm>
          <a:prstGeom prst="rect">
            <a:avLst/>
          </a:prstGeom>
        </p:spPr>
      </p:pic>
      <p:pic>
        <p:nvPicPr>
          <p:cNvPr id="8" name="Picture 7">
            <a:extLst>
              <a:ext uri="{FF2B5EF4-FFF2-40B4-BE49-F238E27FC236}">
                <a16:creationId xmlns:a16="http://schemas.microsoft.com/office/drawing/2014/main" id="{6C516C1F-0F46-2121-B987-F86838AA4C9B}"/>
              </a:ext>
            </a:extLst>
          </p:cNvPr>
          <p:cNvPicPr>
            <a:picLocks noChangeAspect="1"/>
          </p:cNvPicPr>
          <p:nvPr/>
        </p:nvPicPr>
        <p:blipFill>
          <a:blip r:embed="rId5"/>
          <a:stretch>
            <a:fillRect/>
          </a:stretch>
        </p:blipFill>
        <p:spPr>
          <a:xfrm>
            <a:off x="8387767" y="299420"/>
            <a:ext cx="3583439" cy="2938387"/>
          </a:xfrm>
          <a:prstGeom prst="rect">
            <a:avLst/>
          </a:prstGeom>
        </p:spPr>
      </p:pic>
    </p:spTree>
    <p:extLst>
      <p:ext uri="{BB962C8B-B14F-4D97-AF65-F5344CB8AC3E}">
        <p14:creationId xmlns:p14="http://schemas.microsoft.com/office/powerpoint/2010/main" val="204619446"/>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C99DC5-063A-ED83-5BC8-DF27286CDA3E}"/>
              </a:ext>
            </a:extLst>
          </p:cNvPr>
          <p:cNvSpPr>
            <a:spLocks noGrp="1"/>
          </p:cNvSpPr>
          <p:nvPr>
            <p:ph type="body" sz="quarter" idx="12"/>
          </p:nvPr>
        </p:nvSpPr>
        <p:spPr>
          <a:xfrm>
            <a:off x="518281" y="2103263"/>
            <a:ext cx="11516723" cy="4253087"/>
          </a:xfrm>
          <a:solidFill>
            <a:schemeClr val="bg1"/>
          </a:solidFill>
        </p:spPr>
        <p:txBody>
          <a:bodyPr>
            <a:normAutofit fontScale="40000" lnSpcReduction="20000"/>
          </a:bodyPr>
          <a:lstStyle/>
          <a:p>
            <a:pPr>
              <a:buClr>
                <a:srgbClr val="FF0000"/>
              </a:buClr>
            </a:pPr>
            <a:r>
              <a:rPr lang="en-US" sz="4500" b="1" dirty="0">
                <a:solidFill>
                  <a:srgbClr val="FF0000"/>
                </a:solidFill>
              </a:rPr>
              <a:t>Training Challenges -</a:t>
            </a:r>
          </a:p>
          <a:p>
            <a:pPr marL="342900" indent="-342900">
              <a:buClr>
                <a:srgbClr val="FF0000"/>
              </a:buClr>
              <a:buFont typeface="Arial" panose="020B0604020202020204" pitchFamily="34" charset="0"/>
              <a:buChar char="•"/>
            </a:pPr>
            <a:r>
              <a:rPr lang="en-US" sz="4500" b="1" dirty="0">
                <a:solidFill>
                  <a:srgbClr val="FF0000"/>
                </a:solidFill>
              </a:rPr>
              <a:t>Continuous-action training is unstable and rewards fluctuate widely.</a:t>
            </a:r>
          </a:p>
          <a:p>
            <a:pPr marL="342900" indent="-342900">
              <a:buClr>
                <a:srgbClr val="FF0000"/>
              </a:buClr>
              <a:buFont typeface="Arial" panose="020B0604020202020204" pitchFamily="34" charset="0"/>
              <a:buChar char="•"/>
            </a:pPr>
            <a:r>
              <a:rPr lang="en-US" sz="4500" b="1" dirty="0">
                <a:solidFill>
                  <a:srgbClr val="FF0000"/>
                </a:solidFill>
              </a:rPr>
              <a:t>The agent struggled early with high speed, unstable angles, and hard landings.</a:t>
            </a:r>
          </a:p>
          <a:p>
            <a:pPr marL="342900" indent="-342900">
              <a:buClr>
                <a:srgbClr val="FF0000"/>
              </a:buClr>
              <a:buFont typeface="Arial" panose="020B0604020202020204" pitchFamily="34" charset="0"/>
              <a:buChar char="•"/>
            </a:pPr>
            <a:r>
              <a:rPr lang="en-US" sz="4500" b="1" dirty="0">
                <a:solidFill>
                  <a:srgbClr val="FF0000"/>
                </a:solidFill>
              </a:rPr>
              <a:t>DDPG is very sensitive to hyperparameters — small changes can break learning.</a:t>
            </a:r>
          </a:p>
          <a:p>
            <a:pPr marL="342900" indent="-342900">
              <a:buClr>
                <a:srgbClr val="FF0000"/>
              </a:buClr>
              <a:buFont typeface="Arial" panose="020B0604020202020204" pitchFamily="34" charset="0"/>
              <a:buChar char="•"/>
            </a:pPr>
            <a:r>
              <a:rPr lang="en-US" sz="4500" b="1" dirty="0">
                <a:solidFill>
                  <a:srgbClr val="FF0000"/>
                </a:solidFill>
              </a:rPr>
              <a:t>Exploration in continuous action space is weak, causing slow early learning.</a:t>
            </a:r>
          </a:p>
          <a:p>
            <a:r>
              <a:rPr lang="en-US" sz="4500" dirty="0"/>
              <a:t>.</a:t>
            </a:r>
          </a:p>
          <a:p>
            <a:br>
              <a:rPr lang="en-US" sz="4500" dirty="0"/>
            </a:br>
            <a:endParaRPr lang="en-US" sz="4500" dirty="0"/>
          </a:p>
          <a:p>
            <a:r>
              <a:rPr lang="en-US" sz="4500" b="1" dirty="0">
                <a:solidFill>
                  <a:schemeClr val="accent2"/>
                </a:solidFill>
              </a:rPr>
              <a:t>Future Improvements -</a:t>
            </a:r>
          </a:p>
          <a:p>
            <a:pPr marL="342900" indent="-342900">
              <a:buFont typeface="Arial" panose="020B0604020202020204" pitchFamily="34" charset="0"/>
              <a:buChar char="•"/>
            </a:pPr>
            <a:r>
              <a:rPr lang="en-US" sz="4500" b="1" dirty="0">
                <a:solidFill>
                  <a:schemeClr val="accent2"/>
                </a:solidFill>
              </a:rPr>
              <a:t>Replace DDPG with TD3 for more stable learning.</a:t>
            </a:r>
          </a:p>
          <a:p>
            <a:pPr marL="342900" indent="-342900">
              <a:buFont typeface="Arial" panose="020B0604020202020204" pitchFamily="34" charset="0"/>
              <a:buChar char="•"/>
            </a:pPr>
            <a:r>
              <a:rPr lang="en-US" sz="4500" b="1" dirty="0">
                <a:solidFill>
                  <a:schemeClr val="accent2"/>
                </a:solidFill>
              </a:rPr>
              <a:t>Tune exploration noise decay for smoother exploration over time.</a:t>
            </a:r>
          </a:p>
          <a:p>
            <a:pPr marL="342900" indent="-342900">
              <a:buFont typeface="Arial" panose="020B0604020202020204" pitchFamily="34" charset="0"/>
              <a:buChar char="•"/>
            </a:pPr>
            <a:r>
              <a:rPr lang="en-US" sz="4500" b="1" dirty="0">
                <a:solidFill>
                  <a:schemeClr val="accent2"/>
                </a:solidFill>
              </a:rPr>
              <a:t>Add better reward shaping for angle, velocity, and smooth descent.</a:t>
            </a:r>
          </a:p>
          <a:p>
            <a:pPr algn="just"/>
            <a:br>
              <a:rPr lang="en-US" sz="2000" dirty="0">
                <a:solidFill>
                  <a:srgbClr val="0F0F0F"/>
                </a:solidFill>
                <a:latin typeface="Söhne"/>
              </a:rPr>
            </a:br>
            <a:br>
              <a:rPr lang="en-US" sz="2000" dirty="0">
                <a:solidFill>
                  <a:srgbClr val="0F0F0F"/>
                </a:solidFill>
                <a:latin typeface="Söhne"/>
              </a:rPr>
            </a:br>
            <a:endParaRPr lang="en-IN" sz="2000" dirty="0"/>
          </a:p>
        </p:txBody>
      </p:sp>
      <p:pic>
        <p:nvPicPr>
          <p:cNvPr id="8" name="Picture 7">
            <a:extLst>
              <a:ext uri="{FF2B5EF4-FFF2-40B4-BE49-F238E27FC236}">
                <a16:creationId xmlns:a16="http://schemas.microsoft.com/office/drawing/2014/main" id="{0E09E6A9-4318-96D1-F551-AB44224BD060}"/>
              </a:ext>
            </a:extLst>
          </p:cNvPr>
          <p:cNvPicPr>
            <a:picLocks noChangeAspect="1"/>
          </p:cNvPicPr>
          <p:nvPr/>
        </p:nvPicPr>
        <p:blipFill>
          <a:blip r:embed="rId2"/>
          <a:stretch>
            <a:fillRect/>
          </a:stretch>
        </p:blipFill>
        <p:spPr>
          <a:xfrm>
            <a:off x="10048875" y="0"/>
            <a:ext cx="2143125" cy="1758461"/>
          </a:xfrm>
          <a:prstGeom prst="rect">
            <a:avLst/>
          </a:prstGeom>
        </p:spPr>
      </p:pic>
      <p:sp>
        <p:nvSpPr>
          <p:cNvPr id="11" name="TextBox 10">
            <a:extLst>
              <a:ext uri="{FF2B5EF4-FFF2-40B4-BE49-F238E27FC236}">
                <a16:creationId xmlns:a16="http://schemas.microsoft.com/office/drawing/2014/main" id="{30717ED9-4D4A-347A-24E6-B55981E7CFF9}"/>
              </a:ext>
            </a:extLst>
          </p:cNvPr>
          <p:cNvSpPr txBox="1"/>
          <p:nvPr/>
        </p:nvSpPr>
        <p:spPr>
          <a:xfrm>
            <a:off x="437894" y="359172"/>
            <a:ext cx="7771609" cy="1323439"/>
          </a:xfrm>
          <a:prstGeom prst="rect">
            <a:avLst/>
          </a:prstGeom>
          <a:noFill/>
        </p:spPr>
        <p:txBody>
          <a:bodyPr wrap="square">
            <a:spAutoFit/>
          </a:bodyPr>
          <a:lstStyle/>
          <a:p>
            <a:r>
              <a:rPr lang="en-US" sz="4000" dirty="0">
                <a:solidFill>
                  <a:schemeClr val="tx1"/>
                </a:solidFill>
                <a:latin typeface="Arial" panose="020B0604020202020204" pitchFamily="34" charset="0"/>
                <a:cs typeface="Arial" panose="020B0604020202020204" pitchFamily="34" charset="0"/>
              </a:rPr>
              <a:t>CHALLENGES &amp; FUTURE IMPROVEMENTS</a:t>
            </a:r>
            <a:endParaRPr lang="en-IN" sz="4000" dirty="0"/>
          </a:p>
        </p:txBody>
      </p:sp>
    </p:spTree>
    <p:extLst>
      <p:ext uri="{BB962C8B-B14F-4D97-AF65-F5344CB8AC3E}">
        <p14:creationId xmlns:p14="http://schemas.microsoft.com/office/powerpoint/2010/main" val="1680503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8B0A0B61-E44C-4C98-A84B-B96C81DA5816}"/>
              </a:ext>
            </a:extLst>
          </p:cNvPr>
          <p:cNvSpPr>
            <a:spLocks noGrp="1"/>
          </p:cNvSpPr>
          <p:nvPr>
            <p:ph type="title"/>
          </p:nvPr>
        </p:nvSpPr>
        <p:spPr>
          <a:xfrm>
            <a:off x="6095999" y="2267436"/>
            <a:ext cx="4380089" cy="1638520"/>
          </a:xfrm>
        </p:spPr>
        <p:txBody>
          <a:bodyPr/>
          <a:lstStyle/>
          <a:p>
            <a:r>
              <a:rPr lang="en-US" sz="4000" b="1" noProof="0" dirty="0">
                <a:latin typeface="Arial" panose="020B0604020202020204" pitchFamily="34" charset="0"/>
                <a:cs typeface="Arial" panose="020B0604020202020204" pitchFamily="34" charset="0"/>
              </a:rPr>
              <a:t>Thank you</a:t>
            </a:r>
            <a:endParaRPr lang="en-US" sz="4000" b="1" dirty="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F66041D2-84B8-0FCC-008A-1EC115210EC6}"/>
              </a:ext>
            </a:extLst>
          </p:cNvPr>
          <p:cNvPicPr>
            <a:picLocks noChangeAspect="1"/>
          </p:cNvPicPr>
          <p:nvPr/>
        </p:nvPicPr>
        <p:blipFill>
          <a:blip r:embed="rId2"/>
          <a:stretch>
            <a:fillRect/>
          </a:stretch>
        </p:blipFill>
        <p:spPr>
          <a:xfrm>
            <a:off x="10032511" y="1"/>
            <a:ext cx="2143125" cy="1580444"/>
          </a:xfrm>
          <a:prstGeom prst="rect">
            <a:avLst/>
          </a:prstGeom>
        </p:spPr>
      </p:pic>
      <p:pic>
        <p:nvPicPr>
          <p:cNvPr id="2054" name="Picture 6">
            <a:extLst>
              <a:ext uri="{FF2B5EF4-FFF2-40B4-BE49-F238E27FC236}">
                <a16:creationId xmlns:a16="http://schemas.microsoft.com/office/drawing/2014/main" id="{9C9846CE-FEAF-E3E6-91B3-F90B8B6399A7}"/>
              </a:ext>
            </a:extLst>
          </p:cNvPr>
          <p:cNvPicPr>
            <a:picLocks noGrp="1" noChangeAspect="1" noChangeArrowheads="1"/>
          </p:cNvPicPr>
          <p:nvPr>
            <p:ph type="pic" sz="quarter" idx="15"/>
          </p:nvPr>
        </p:nvPicPr>
        <p:blipFill>
          <a:blip r:embed="rId3">
            <a:extLst>
              <a:ext uri="{28A0092B-C50C-407E-A947-70E740481C1C}">
                <a14:useLocalDpi xmlns:a14="http://schemas.microsoft.com/office/drawing/2010/main" val="0"/>
              </a:ext>
            </a:extLst>
          </a:blip>
          <a:srcRect l="29144" r="29144"/>
          <a:stretch/>
        </p:blipFill>
        <p:spPr bwMode="auto">
          <a:xfrm>
            <a:off x="0" y="0"/>
            <a:ext cx="546694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1646291"/>
      </p:ext>
    </p:extLst>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Avenir Next LT Pro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venir Next LT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1115</TotalTime>
  <Words>1908</Words>
  <Application>Microsoft Office PowerPoint</Application>
  <PresentationFormat>Widescreen</PresentationFormat>
  <Paragraphs>179</Paragraphs>
  <Slides>15</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Aptos</vt:lpstr>
      <vt:lpstr>Arial</vt:lpstr>
      <vt:lpstr>Avenir Next LT Pro</vt:lpstr>
      <vt:lpstr>Avenir Next LT Pro Light</vt:lpstr>
      <vt:lpstr>Calibri</vt:lpstr>
      <vt:lpstr>Encode Sans Condensed</vt:lpstr>
      <vt:lpstr>Söhne</vt:lpstr>
      <vt:lpstr>RetrospectVTI</vt:lpstr>
      <vt:lpstr>Lunar Lander using OpenAI V3 – Continuous Action Space</vt:lpstr>
      <vt:lpstr> Project   Objective</vt:lpstr>
      <vt:lpstr>Deep Deterministic Policy Gradient  (DDPG) algorithm</vt:lpstr>
      <vt:lpstr>PowerPoint Presentation</vt:lpstr>
      <vt:lpstr>PowerPoint Presentation</vt:lpstr>
      <vt:lpstr>2.Core DDPG Algorithm Module</vt:lpstr>
      <vt:lpstr> </vt:lpstr>
      <vt:lpstr>Model Files (.pth) – Saved Actor &amp; Critic Weights</vt:lpstr>
      <vt:lpstr>Training Log Files – Rewards &amp; Step-wise Parameters </vt:lpstr>
      <vt:lpstr>4.The Final Flight Demonstration Module </vt:lpstr>
      <vt:lpstr> Lunar Lander  Descent Visualization Output </vt:lpstr>
      <vt:lpstr>    5.Graphical Visualization of Rewards &amp; Parameters Module</vt:lpstr>
      <vt:lpstr>Thrust, Velocity &amp; Reward Parameter Analysis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VEDANT MALHOTRA</dc:creator>
  <cp:lastModifiedBy>VEDANT MALHOTRA</cp:lastModifiedBy>
  <cp:revision>8</cp:revision>
  <dcterms:created xsi:type="dcterms:W3CDTF">2025-10-13T06:22:13Z</dcterms:created>
  <dcterms:modified xsi:type="dcterms:W3CDTF">2025-11-19T06:50:04Z</dcterms:modified>
</cp:coreProperties>
</file>